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Lst>
  <p:notesMasterIdLst>
    <p:notesMasterId r:id="rId5"/>
  </p:notesMasterIdLst>
  <p:handoutMasterIdLst>
    <p:handoutMasterId r:id="rId6"/>
  </p:handoutMasterIdLst>
  <p:sldIdLst>
    <p:sldId id="258" r:id="rId4"/>
  </p:sldIdLst>
  <p:sldSz cx="43891200" cy="32918400"/>
  <p:notesSz cx="6858000" cy="9144000"/>
  <p:custDataLst>
    <p:tags r:id="rId11"/>
  </p:custDataLst>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045" algn="l" defTabSz="4389120" rtl="0" eaLnBrk="1" latinLnBrk="0" hangingPunct="1">
      <a:defRPr sz="8600" kern="1200">
        <a:solidFill>
          <a:schemeClr val="tx1"/>
        </a:solidFill>
        <a:latin typeface="+mn-lt"/>
        <a:ea typeface="+mn-ea"/>
        <a:cs typeface="+mn-cs"/>
      </a:defRPr>
    </a:lvl4pPr>
    <a:lvl5pPr marL="8777605" algn="l" defTabSz="4389120" rtl="0" eaLnBrk="1" latinLnBrk="0" hangingPunct="1">
      <a:defRPr sz="8600" kern="1200">
        <a:solidFill>
          <a:schemeClr val="tx1"/>
        </a:solidFill>
        <a:latin typeface="+mn-lt"/>
        <a:ea typeface="+mn-ea"/>
        <a:cs typeface="+mn-cs"/>
      </a:defRPr>
    </a:lvl5pPr>
    <a:lvl6pPr marL="10972165" algn="l" defTabSz="4389120" rtl="0" eaLnBrk="1" latinLnBrk="0" hangingPunct="1">
      <a:defRPr sz="8600" kern="1200">
        <a:solidFill>
          <a:schemeClr val="tx1"/>
        </a:solidFill>
        <a:latin typeface="+mn-lt"/>
        <a:ea typeface="+mn-ea"/>
        <a:cs typeface="+mn-cs"/>
      </a:defRPr>
    </a:lvl6pPr>
    <a:lvl7pPr marL="13166725" algn="l" defTabSz="4389120" rtl="0" eaLnBrk="1" latinLnBrk="0" hangingPunct="1">
      <a:defRPr sz="8600" kern="1200">
        <a:solidFill>
          <a:schemeClr val="tx1"/>
        </a:solidFill>
        <a:latin typeface="+mn-lt"/>
        <a:ea typeface="+mn-ea"/>
        <a:cs typeface="+mn-cs"/>
      </a:defRPr>
    </a:lvl7pPr>
    <a:lvl8pPr marL="15361285" algn="l" defTabSz="4389120" rtl="0" eaLnBrk="1" latinLnBrk="0" hangingPunct="1">
      <a:defRPr sz="8600" kern="1200">
        <a:solidFill>
          <a:schemeClr val="tx1"/>
        </a:solidFill>
        <a:latin typeface="+mn-lt"/>
        <a:ea typeface="+mn-ea"/>
        <a:cs typeface="+mn-cs"/>
      </a:defRPr>
    </a:lvl8pPr>
    <a:lvl9pPr marL="17555845"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42" userDrawn="1">
          <p15:clr>
            <a:srgbClr val="A4A3A4"/>
          </p15:clr>
        </p15:guide>
        <p15:guide id="2" orient="horz" pos="240" userDrawn="1">
          <p15:clr>
            <a:srgbClr val="A4A3A4"/>
          </p15:clr>
        </p15:guide>
        <p15:guide id="3" orient="horz" pos="20160" userDrawn="1">
          <p15:clr>
            <a:srgbClr val="A4A3A4"/>
          </p15:clr>
        </p15:guide>
        <p15:guide id="4" orient="horz" pos="0" userDrawn="1">
          <p15:clr>
            <a:srgbClr val="A4A3A4"/>
          </p15:clr>
        </p15:guide>
        <p15:guide id="5" pos="305" userDrawn="1">
          <p15:clr>
            <a:srgbClr val="A4A3A4"/>
          </p15:clr>
        </p15:guide>
        <p15:guide id="6" pos="2736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864"/>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4558" autoAdjust="0"/>
  </p:normalViewPr>
  <p:slideViewPr>
    <p:cSldViewPr snapToGrid="0" snapToObjects="1" showGuides="1">
      <p:cViewPr varScale="1">
        <p:scale>
          <a:sx n="24" d="100"/>
          <a:sy n="24" d="100"/>
        </p:scale>
        <p:origin x="2680" y="232"/>
      </p:cViewPr>
      <p:guideLst>
        <p:guide orient="horz" pos="3342"/>
        <p:guide orient="horz" pos="240"/>
        <p:guide orient="horz" pos="20160"/>
        <p:guide orient="horz"/>
        <p:guide pos="305"/>
        <p:guide pos="27368"/>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1" Type="http://schemas.openxmlformats.org/officeDocument/2006/relationships/tags" Target="tags/tag1.xml"/><Relationship Id="rId10" Type="http://schemas.openxmlformats.org/officeDocument/2006/relationships/commentAuthors" Target="commentAuthor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4389120" rtl="0" eaLnBrk="1" latinLnBrk="0" hangingPunct="1">
      <a:defRPr sz="5800" kern="1200">
        <a:solidFill>
          <a:schemeClr val="tx1"/>
        </a:solidFill>
        <a:latin typeface="+mn-lt"/>
        <a:ea typeface="+mn-ea"/>
        <a:cs typeface="+mn-cs"/>
      </a:defRPr>
    </a:lvl1pPr>
    <a:lvl2pPr marL="2194560" algn="l" defTabSz="4389120" rtl="0" eaLnBrk="1" latinLnBrk="0" hangingPunct="1">
      <a:defRPr sz="5800" kern="1200">
        <a:solidFill>
          <a:schemeClr val="tx1"/>
        </a:solidFill>
        <a:latin typeface="+mn-lt"/>
        <a:ea typeface="+mn-ea"/>
        <a:cs typeface="+mn-cs"/>
      </a:defRPr>
    </a:lvl2pPr>
    <a:lvl3pPr marL="4389120" algn="l" defTabSz="4389120" rtl="0" eaLnBrk="1" latinLnBrk="0" hangingPunct="1">
      <a:defRPr sz="5800" kern="1200">
        <a:solidFill>
          <a:schemeClr val="tx1"/>
        </a:solidFill>
        <a:latin typeface="+mn-lt"/>
        <a:ea typeface="+mn-ea"/>
        <a:cs typeface="+mn-cs"/>
      </a:defRPr>
    </a:lvl3pPr>
    <a:lvl4pPr marL="6583045" algn="l" defTabSz="4389120" rtl="0" eaLnBrk="1" latinLnBrk="0" hangingPunct="1">
      <a:defRPr sz="5800" kern="1200">
        <a:solidFill>
          <a:schemeClr val="tx1"/>
        </a:solidFill>
        <a:latin typeface="+mn-lt"/>
        <a:ea typeface="+mn-ea"/>
        <a:cs typeface="+mn-cs"/>
      </a:defRPr>
    </a:lvl4pPr>
    <a:lvl5pPr marL="8777605" algn="l" defTabSz="4389120" rtl="0" eaLnBrk="1" latinLnBrk="0" hangingPunct="1">
      <a:defRPr sz="5800" kern="1200">
        <a:solidFill>
          <a:schemeClr val="tx1"/>
        </a:solidFill>
        <a:latin typeface="+mn-lt"/>
        <a:ea typeface="+mn-ea"/>
        <a:cs typeface="+mn-cs"/>
      </a:defRPr>
    </a:lvl5pPr>
    <a:lvl6pPr marL="10972165" algn="l" defTabSz="4389120" rtl="0" eaLnBrk="1" latinLnBrk="0" hangingPunct="1">
      <a:defRPr sz="5800" kern="1200">
        <a:solidFill>
          <a:schemeClr val="tx1"/>
        </a:solidFill>
        <a:latin typeface="+mn-lt"/>
        <a:ea typeface="+mn-ea"/>
        <a:cs typeface="+mn-cs"/>
      </a:defRPr>
    </a:lvl6pPr>
    <a:lvl7pPr marL="13166725" algn="l" defTabSz="4389120" rtl="0" eaLnBrk="1" latinLnBrk="0" hangingPunct="1">
      <a:defRPr sz="5800" kern="1200">
        <a:solidFill>
          <a:schemeClr val="tx1"/>
        </a:solidFill>
        <a:latin typeface="+mn-lt"/>
        <a:ea typeface="+mn-ea"/>
        <a:cs typeface="+mn-cs"/>
      </a:defRPr>
    </a:lvl7pPr>
    <a:lvl8pPr marL="15361285" algn="l" defTabSz="4389120" rtl="0" eaLnBrk="1" latinLnBrk="0" hangingPunct="1">
      <a:defRPr sz="5800" kern="1200">
        <a:solidFill>
          <a:schemeClr val="tx1"/>
        </a:solidFill>
        <a:latin typeface="+mn-lt"/>
        <a:ea typeface="+mn-ea"/>
        <a:cs typeface="+mn-cs"/>
      </a:defRPr>
    </a:lvl8pPr>
    <a:lvl9pPr marL="17555845" algn="l" defTabSz="438912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5829841"/>
            <a:ext cx="10056813"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6" name="Text Placeholder 5"/>
          <p:cNvSpPr>
            <a:spLocks noGrp="1"/>
          </p:cNvSpPr>
          <p:nvPr>
            <p:ph type="body" sz="quarter" idx="11" hasCustomPrompt="1"/>
          </p:nvPr>
        </p:nvSpPr>
        <p:spPr>
          <a:xfrm>
            <a:off x="477827" y="5000109"/>
            <a:ext cx="10048875" cy="615545"/>
          </a:xfrm>
          <a:prstGeom prst="rect">
            <a:avLst/>
          </a:prstGeom>
          <a:solidFill>
            <a:schemeClr val="accent5">
              <a:lumMod val="50000"/>
            </a:schemeClr>
          </a:solidFill>
        </p:spPr>
        <p:txBody>
          <a:bodyPr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INTRODUCTION or ABSTRACT</a:t>
            </a:r>
            <a:endParaRPr lang="en-US" dirty="0"/>
          </a:p>
        </p:txBody>
      </p:sp>
      <p:sp>
        <p:nvSpPr>
          <p:cNvPr id="20" name="Text Placeholder 5"/>
          <p:cNvSpPr>
            <a:spLocks noGrp="1"/>
          </p:cNvSpPr>
          <p:nvPr>
            <p:ph type="body" sz="quarter" idx="20" hasCustomPrompt="1"/>
          </p:nvPr>
        </p:nvSpPr>
        <p:spPr>
          <a:xfrm>
            <a:off x="477825" y="13663873"/>
            <a:ext cx="10050462"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OBJECTIVES</a:t>
            </a:r>
            <a:endParaRPr lang="en-US" dirty="0"/>
          </a:p>
        </p:txBody>
      </p:sp>
      <p:sp>
        <p:nvSpPr>
          <p:cNvPr id="21" name="Text Placeholder 3"/>
          <p:cNvSpPr>
            <a:spLocks noGrp="1"/>
          </p:cNvSpPr>
          <p:nvPr>
            <p:ph type="body" sz="quarter" idx="21" hasCustomPrompt="1"/>
          </p:nvPr>
        </p:nvSpPr>
        <p:spPr>
          <a:xfrm>
            <a:off x="11460161" y="5829841"/>
            <a:ext cx="10048874"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22" name="Text Placeholder 5"/>
          <p:cNvSpPr>
            <a:spLocks noGrp="1"/>
          </p:cNvSpPr>
          <p:nvPr>
            <p:ph type="body" sz="quarter" idx="22" hasCustomPrompt="1"/>
          </p:nvPr>
        </p:nvSpPr>
        <p:spPr>
          <a:xfrm>
            <a:off x="11460162" y="5000109"/>
            <a:ext cx="10048875" cy="615545"/>
          </a:xfrm>
          <a:prstGeom prst="rect">
            <a:avLst/>
          </a:prstGeom>
          <a:solidFill>
            <a:schemeClr val="accent5">
              <a:lumMod val="50000"/>
            </a:schemeClr>
          </a:solidFill>
        </p:spPr>
        <p:txBody>
          <a:bodyPr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MATERIALS &amp; METHODS</a:t>
            </a:r>
            <a:endParaRPr lang="en-US" dirty="0"/>
          </a:p>
        </p:txBody>
      </p:sp>
      <p:sp>
        <p:nvSpPr>
          <p:cNvPr id="23" name="Text Placeholder 3"/>
          <p:cNvSpPr>
            <a:spLocks noGrp="1"/>
          </p:cNvSpPr>
          <p:nvPr>
            <p:ph type="body" sz="quarter" idx="23" hasCustomPrompt="1"/>
          </p:nvPr>
        </p:nvSpPr>
        <p:spPr>
          <a:xfrm>
            <a:off x="22385343" y="5829841"/>
            <a:ext cx="10048874"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24" name="Text Placeholder 5"/>
          <p:cNvSpPr>
            <a:spLocks noGrp="1"/>
          </p:cNvSpPr>
          <p:nvPr>
            <p:ph type="body" sz="quarter" idx="24" hasCustomPrompt="1"/>
          </p:nvPr>
        </p:nvSpPr>
        <p:spPr>
          <a:xfrm>
            <a:off x="22377404" y="5000109"/>
            <a:ext cx="10058400" cy="615545"/>
          </a:xfrm>
          <a:prstGeom prst="rect">
            <a:avLst/>
          </a:prstGeom>
          <a:solidFill>
            <a:schemeClr val="accent5">
              <a:lumMod val="50000"/>
            </a:schemeClr>
          </a:solidFill>
        </p:spPr>
        <p:txBody>
          <a:bodyPr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RESULTS</a:t>
            </a:r>
            <a:endParaRPr lang="en-US" dirty="0"/>
          </a:p>
        </p:txBody>
      </p:sp>
      <p:sp>
        <p:nvSpPr>
          <p:cNvPr id="25" name="Text Placeholder 5"/>
          <p:cNvSpPr>
            <a:spLocks noGrp="1"/>
          </p:cNvSpPr>
          <p:nvPr>
            <p:ph type="body" sz="quarter" idx="25" hasCustomPrompt="1"/>
          </p:nvPr>
        </p:nvSpPr>
        <p:spPr>
          <a:xfrm>
            <a:off x="33390292" y="5000109"/>
            <a:ext cx="10047018"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CONCLUSIONS</a:t>
            </a:r>
            <a:endParaRPr lang="en-US" dirty="0"/>
          </a:p>
        </p:txBody>
      </p:sp>
      <p:sp>
        <p:nvSpPr>
          <p:cNvPr id="26" name="Text Placeholder 3"/>
          <p:cNvSpPr>
            <a:spLocks noGrp="1"/>
          </p:cNvSpPr>
          <p:nvPr>
            <p:ph type="body" sz="quarter" idx="26" hasCustomPrompt="1"/>
          </p:nvPr>
        </p:nvSpPr>
        <p:spPr>
          <a:xfrm>
            <a:off x="33390292" y="5829841"/>
            <a:ext cx="10047018"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27" name="Text Placeholder 5"/>
          <p:cNvSpPr>
            <a:spLocks noGrp="1"/>
          </p:cNvSpPr>
          <p:nvPr>
            <p:ph type="body" sz="quarter" idx="27" hasCustomPrompt="1"/>
          </p:nvPr>
        </p:nvSpPr>
        <p:spPr>
          <a:xfrm>
            <a:off x="33390292" y="13724098"/>
            <a:ext cx="10047018"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REFERENCES</a:t>
            </a:r>
            <a:endParaRPr lang="en-US" dirty="0"/>
          </a:p>
        </p:txBody>
      </p:sp>
      <p:sp>
        <p:nvSpPr>
          <p:cNvPr id="28" name="Text Placeholder 3"/>
          <p:cNvSpPr>
            <a:spLocks noGrp="1"/>
          </p:cNvSpPr>
          <p:nvPr>
            <p:ph type="body" sz="quarter" idx="28" hasCustomPrompt="1"/>
          </p:nvPr>
        </p:nvSpPr>
        <p:spPr>
          <a:xfrm>
            <a:off x="33390292" y="14462762"/>
            <a:ext cx="10052050"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29" name="Text Placeholder 5"/>
          <p:cNvSpPr>
            <a:spLocks noGrp="1"/>
          </p:cNvSpPr>
          <p:nvPr>
            <p:ph type="body" sz="quarter" idx="29" hasCustomPrompt="1"/>
          </p:nvPr>
        </p:nvSpPr>
        <p:spPr>
          <a:xfrm>
            <a:off x="33390292" y="25130761"/>
            <a:ext cx="10047018"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ACKNOWLEDGEMENTS or  CONTACT</a:t>
            </a:r>
            <a:endParaRPr lang="en-US" dirty="0"/>
          </a:p>
        </p:txBody>
      </p:sp>
      <p:sp>
        <p:nvSpPr>
          <p:cNvPr id="30" name="Text Placeholder 3"/>
          <p:cNvSpPr>
            <a:spLocks noGrp="1"/>
          </p:cNvSpPr>
          <p:nvPr>
            <p:ph type="body" sz="quarter" idx="30" hasCustomPrompt="1"/>
          </p:nvPr>
        </p:nvSpPr>
        <p:spPr>
          <a:xfrm>
            <a:off x="33390292" y="25884806"/>
            <a:ext cx="10052050"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60" name="Text Placeholder 3"/>
          <p:cNvSpPr>
            <a:spLocks noGrp="1"/>
          </p:cNvSpPr>
          <p:nvPr>
            <p:ph type="body" sz="quarter" idx="96" hasCustomPrompt="1"/>
          </p:nvPr>
        </p:nvSpPr>
        <p:spPr>
          <a:xfrm>
            <a:off x="459674" y="14402912"/>
            <a:ext cx="10056813"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77" name="Text Placeholder 76"/>
          <p:cNvSpPr>
            <a:spLocks noGrp="1"/>
          </p:cNvSpPr>
          <p:nvPr>
            <p:ph type="body" sz="quarter" idx="150" hasCustomPrompt="1"/>
          </p:nvPr>
        </p:nvSpPr>
        <p:spPr>
          <a:xfrm>
            <a:off x="5932593" y="2505788"/>
            <a:ext cx="31998968" cy="523220"/>
          </a:xfrm>
          <a:prstGeom prst="rect">
            <a:avLst/>
          </a:prstGeom>
        </p:spPr>
        <p:txBody>
          <a:bodyPr anchor="t" anchorCtr="0">
            <a:spAutoFit/>
          </a:bodyPr>
          <a:lstStyle>
            <a:lvl1pPr marL="0" indent="0" algn="ctr">
              <a:buFontTx/>
              <a:buNone/>
              <a:defRPr sz="28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endParaRPr lang="en-US" dirty="0"/>
          </a:p>
        </p:txBody>
      </p:sp>
      <p:sp>
        <p:nvSpPr>
          <p:cNvPr id="78" name="Text Placeholder 76"/>
          <p:cNvSpPr>
            <a:spLocks noGrp="1"/>
          </p:cNvSpPr>
          <p:nvPr>
            <p:ph type="body" sz="quarter" idx="151" hasCustomPrompt="1"/>
          </p:nvPr>
        </p:nvSpPr>
        <p:spPr>
          <a:xfrm>
            <a:off x="5932593" y="1562745"/>
            <a:ext cx="31998968" cy="769441"/>
          </a:xfrm>
          <a:prstGeom prst="rect">
            <a:avLst/>
          </a:prstGeom>
        </p:spPr>
        <p:txBody>
          <a:bodyPr anchor="t" anchorCtr="0">
            <a:spAutoFit/>
          </a:bodyPr>
          <a:lstStyle>
            <a:lvl1pPr marL="0" indent="0" algn="ctr">
              <a:buFontTx/>
              <a:buNone/>
              <a:defRPr sz="44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endParaRPr lang="en-US" dirty="0"/>
          </a:p>
        </p:txBody>
      </p:sp>
      <p:sp>
        <p:nvSpPr>
          <p:cNvPr id="79" name="Text Placeholder 76"/>
          <p:cNvSpPr>
            <a:spLocks noGrp="1"/>
          </p:cNvSpPr>
          <p:nvPr>
            <p:ph type="body" sz="quarter" idx="153" hasCustomPrompt="1"/>
          </p:nvPr>
        </p:nvSpPr>
        <p:spPr>
          <a:xfrm>
            <a:off x="5932593" y="465813"/>
            <a:ext cx="31998968" cy="923330"/>
          </a:xfrm>
          <a:prstGeom prst="rect">
            <a:avLst/>
          </a:prstGeom>
        </p:spPr>
        <p:txBody>
          <a:bodyPr anchor="t" anchorCtr="0">
            <a:spAutoFit/>
          </a:bodyPr>
          <a:lstStyle>
            <a:lvl1pPr marL="0" indent="0" algn="ctr">
              <a:buFontTx/>
              <a:buNone/>
              <a:defRPr sz="5400" b="1">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endParaRPr lang="en-US" dirty="0"/>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endParaRPr lang="en-US" dirty="0"/>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endParaRPr lang="en-US" dirty="0"/>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endParaRPr lang="en-US" dirty="0"/>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endParaRPr lang="en-US" dirty="0"/>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endParaRPr lang="en-US" dirty="0"/>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endParaRPr lang="en-US" dirty="0"/>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900" indent="-571500">
              <a:defRPr sz="2500">
                <a:latin typeface="Trebuchet MS" panose="020B0603020202020204" pitchFamily="34" charset="0"/>
              </a:defRPr>
            </a:lvl2pPr>
            <a:lvl3pPr marL="2057400" indent="-571500">
              <a:defRPr sz="2500">
                <a:latin typeface="Trebuchet MS" panose="020B0603020202020204" pitchFamily="34" charset="0"/>
              </a:defRPr>
            </a:lvl3pPr>
            <a:lvl4pPr marL="2686050" indent="-628650">
              <a:defRPr sz="2500">
                <a:latin typeface="Trebuchet MS" panose="020B0603020202020204" pitchFamily="34" charset="0"/>
              </a:defRPr>
            </a:lvl4pPr>
            <a:lvl5pPr marL="3143250" indent="-457200">
              <a:defRPr sz="2500">
                <a:latin typeface="Trebuchet MS" panose="020B0603020202020204" pitchFamily="34" charset="0"/>
              </a:defRPr>
            </a:lvl5pPr>
          </a:lstStyle>
          <a:p>
            <a:pPr lvl="0"/>
            <a:r>
              <a:rPr lang="en-US" dirty="0"/>
              <a:t>Type in or paste your text here</a:t>
            </a:r>
            <a:endParaRPr lang="en-US" dirty="0"/>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endParaRPr lang="en-US" dirty="0"/>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endParaRPr lang="en-US" dirty="0"/>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png"/><Relationship Id="rId7" Type="http://schemas.openxmlformats.org/officeDocument/2006/relationships/image" Target="../media/image5.png"/><Relationship Id="rId6" Type="http://schemas.openxmlformats.org/officeDocument/2006/relationships/hyperlink" Target="https://www.posterpresentations.com/how-to-change-the-research-poster-template-colors.html" TargetMode="Externa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1" Type="http://schemas.openxmlformats.org/officeDocument/2006/relationships/theme" Target="../theme/theme1.xml"/><Relationship Id="rId10" Type="http://schemas.openxmlformats.org/officeDocument/2006/relationships/image" Target="../media/image8.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p:cNvSpPr/>
          <p:nvPr userDrawn="1"/>
        </p:nvSpPr>
        <p:spPr>
          <a:xfrm>
            <a:off x="0" y="32077025"/>
            <a:ext cx="43891200" cy="9132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14"/>
          <p:cNvSpPr txBox="1">
            <a:spLocks noChangeArrowheads="1"/>
          </p:cNvSpPr>
          <p:nvPr/>
        </p:nvSpPr>
        <p:spPr bwMode="auto">
          <a:xfrm>
            <a:off x="652905" y="32351882"/>
            <a:ext cx="2514600" cy="341436"/>
          </a:xfrm>
          <a:prstGeom prst="rect">
            <a:avLst/>
          </a:prstGeom>
          <a:noFill/>
          <a:ln w="9525">
            <a:noFill/>
            <a:miter lim="800000"/>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panose="020B0604020202020204" pitchFamily="34" charset="0"/>
              </a:rPr>
              <a:t>RESEARCH POSTER PRESENTATION DESIGN © 2022</a:t>
            </a:r>
            <a:endParaRPr lang="en-US" sz="500" b="1" dirty="0">
              <a:solidFill>
                <a:schemeClr val="bg1">
                  <a:lumMod val="75000"/>
                </a:schemeClr>
              </a:solidFill>
              <a:latin typeface="Arial" panose="020B0604020202020204" pitchFamily="34" charset="0"/>
            </a:endParaRPr>
          </a:p>
          <a:p>
            <a:pPr eaLnBrk="0" hangingPunct="0">
              <a:lnSpc>
                <a:spcPct val="65000"/>
              </a:lnSpc>
              <a:spcBef>
                <a:spcPct val="50000"/>
              </a:spcBef>
              <a:defRPr/>
            </a:pPr>
            <a:r>
              <a:rPr lang="en-US" sz="1100" b="1" dirty="0">
                <a:solidFill>
                  <a:schemeClr val="bg1">
                    <a:lumMod val="75000"/>
                  </a:schemeClr>
                </a:solidFill>
                <a:latin typeface="Arial" panose="020B0604020202020204" pitchFamily="34" charset="0"/>
              </a:rPr>
              <a:t>www.PosterPresentations.com</a:t>
            </a:r>
            <a:endParaRPr lang="en-US" sz="1100" b="1" dirty="0">
              <a:solidFill>
                <a:schemeClr val="bg1">
                  <a:lumMod val="75000"/>
                </a:schemeClr>
              </a:solidFill>
              <a:latin typeface="Arial" panose="020B0604020202020204" pitchFamily="34" charset="0"/>
            </a:endParaRPr>
          </a:p>
        </p:txBody>
      </p:sp>
      <p:grpSp>
        <p:nvGrpSpPr>
          <p:cNvPr id="6" name="Group 5"/>
          <p:cNvGrpSpPr/>
          <p:nvPr userDrawn="1"/>
        </p:nvGrpSpPr>
        <p:grpSpPr>
          <a:xfrm>
            <a:off x="0" y="14098"/>
            <a:ext cx="43891200" cy="4314166"/>
            <a:chOff x="0" y="-1"/>
            <a:chExt cx="12192000" cy="1219223"/>
          </a:xfrm>
        </p:grpSpPr>
        <p:sp>
          <p:nvSpPr>
            <p:cNvPr id="7" name="Document 6"/>
            <p:cNvSpPr/>
            <p:nvPr/>
          </p:nvSpPr>
          <p:spPr>
            <a:xfrm>
              <a:off x="0" y="89065"/>
              <a:ext cx="12192000" cy="1130157"/>
            </a:xfrm>
            <a:prstGeom prst="flowChartDocument">
              <a:avLst/>
            </a:prstGeom>
            <a:gradFill>
              <a:gsLst>
                <a:gs pos="0">
                  <a:srgbClr val="C00000"/>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cument 7"/>
            <p:cNvSpPr/>
            <p:nvPr/>
          </p:nvSpPr>
          <p:spPr>
            <a:xfrm>
              <a:off x="0" y="-1"/>
              <a:ext cx="12192000" cy="1130157"/>
            </a:xfrm>
            <a:prstGeom prst="flowChartDocumen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9" name="Table 8"/>
          <p:cNvGraphicFramePr>
            <a:graphicFrameLocks noGrp="1"/>
          </p:cNvGraphicFramePr>
          <p:nvPr userDrawn="1"/>
        </p:nvGraphicFramePr>
        <p:xfrm>
          <a:off x="-10611120" y="14098"/>
          <a:ext cx="9776869" cy="32679220"/>
        </p:xfrm>
        <a:graphic>
          <a:graphicData uri="http://schemas.openxmlformats.org/drawingml/2006/table">
            <a:tbl>
              <a:tblPr firstRow="1" bandRow="1">
                <a:tableStyleId>{5C22544A-7EE6-4342-B048-85BDC9FD1C3A}</a:tableStyleId>
              </a:tblPr>
              <a:tblGrid>
                <a:gridCol w="4192245"/>
                <a:gridCol w="5584624"/>
              </a:tblGrid>
              <a:tr h="1329113">
                <a:tc gridSpan="2">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anose="020B0603020202020204" pitchFamily="34" charset="0"/>
                        </a:rPr>
                        <a:t>(THIS SIDEBAR WILL NOT PRINT)</a:t>
                      </a:r>
                      <a:endParaRPr lang="en-US" sz="3600" b="1" spc="600" dirty="0">
                        <a:solidFill>
                          <a:schemeClr val="bg1"/>
                        </a:solidFill>
                        <a:latin typeface="Trebuchet MS" panose="020B0603020202020204" pitchFamily="34" charset="0"/>
                      </a:endParaRPr>
                    </a:p>
                  </a:txBody>
                  <a:tcPr marL="182880" marT="137160">
                    <a:solidFill>
                      <a:srgbClr val="FFC000"/>
                    </a:solidFill>
                  </a:tcPr>
                </a:tc>
                <a:tc hMerge="1">
                  <a:tcPr/>
                </a:tc>
              </a:tr>
              <a:tr h="4206624">
                <a:tc gridSpan="2">
                  <a:txBody>
                    <a:bodyPr/>
                    <a:lstStyle/>
                    <a:p>
                      <a:pPr defTabSz="3765550"/>
                      <a:r>
                        <a:rPr lang="en-US" sz="2000" i="0" dirty="0">
                          <a:solidFill>
                            <a:srgbClr val="D9D9D9"/>
                          </a:solidFill>
                          <a:latin typeface="Arial" panose="020B0604020202020204"/>
                          <a:cs typeface="Arial" panose="020B0604020202020204"/>
                        </a:rPr>
                        <a:t>This PowerPoint template produces a </a:t>
                      </a:r>
                      <a:r>
                        <a:rPr lang="en-US" sz="2000" i="0" dirty="0">
                          <a:solidFill>
                            <a:srgbClr val="FFC000"/>
                          </a:solidFill>
                          <a:latin typeface="Arial" panose="020B0604020202020204"/>
                          <a:cs typeface="Arial" panose="020B0604020202020204"/>
                        </a:rPr>
                        <a:t>standard screen size (4:3 Ratio) virtual </a:t>
                      </a:r>
                      <a:r>
                        <a:rPr lang="en-US" sz="2000" i="0" dirty="0">
                          <a:solidFill>
                            <a:srgbClr val="D9D9D9"/>
                          </a:solidFill>
                          <a:latin typeface="Arial" panose="020B0604020202020204"/>
                          <a:cs typeface="Arial" panose="020B0604020202020204"/>
                        </a:rPr>
                        <a:t>presentation poster. You can use it to create your research poster by placing your title, subtitle, text, tables, charts and photos. </a:t>
                      </a:r>
                      <a:endParaRPr lang="en-US" sz="2000" i="0" dirty="0">
                        <a:solidFill>
                          <a:srgbClr val="D9D9D9"/>
                        </a:solidFill>
                        <a:latin typeface="Arial" panose="020B0604020202020204"/>
                        <a:cs typeface="Arial" panose="020B0604020202020204"/>
                      </a:endParaRPr>
                    </a:p>
                    <a:p>
                      <a:pPr defTabSz="3765550"/>
                      <a:endParaRPr lang="en-US" sz="2000" i="0" dirty="0">
                        <a:solidFill>
                          <a:srgbClr val="D9D9D9"/>
                        </a:solidFill>
                        <a:latin typeface="Arial" panose="020B0604020202020204"/>
                        <a:cs typeface="Arial" panose="020B0604020202020204"/>
                      </a:endParaRPr>
                    </a:p>
                    <a:p>
                      <a:pPr defTabSz="3765550"/>
                      <a:r>
                        <a:rPr lang="en-US" sz="2000" i="0" dirty="0">
                          <a:solidFill>
                            <a:srgbClr val="D9D9D9"/>
                          </a:solidFill>
                          <a:latin typeface="Arial" panose="020B0604020202020204"/>
                          <a:cs typeface="Arial" panose="020B0604020202020204"/>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panose="020B0604020202020204"/>
                          <a:cs typeface="Arial" panose="020B0604020202020204"/>
                        </a:rPr>
                        <a:t>PosterPresentations.com</a:t>
                      </a:r>
                      <a:r>
                        <a:rPr lang="en-US" sz="2000" i="0" dirty="0">
                          <a:solidFill>
                            <a:srgbClr val="D9D9D9"/>
                          </a:solidFill>
                          <a:latin typeface="Arial" panose="020B0604020202020204"/>
                          <a:cs typeface="Arial" panose="020B0604020202020204"/>
                        </a:rPr>
                        <a:t> and click on the  </a:t>
                      </a:r>
                      <a:r>
                        <a:rPr lang="en-US" sz="2000" i="0" dirty="0">
                          <a:solidFill>
                            <a:srgbClr val="FFC000"/>
                          </a:solidFill>
                          <a:latin typeface="Arial" panose="020B0604020202020204"/>
                          <a:cs typeface="Arial" panose="020B0604020202020204"/>
                        </a:rPr>
                        <a:t>HELP DESK</a:t>
                      </a:r>
                      <a:r>
                        <a:rPr lang="en-US" sz="2000" i="0" baseline="0" dirty="0">
                          <a:solidFill>
                            <a:srgbClr val="D9D9D9"/>
                          </a:solidFill>
                          <a:latin typeface="Arial" panose="020B0604020202020204"/>
                          <a:cs typeface="Arial" panose="020B0604020202020204"/>
                        </a:rPr>
                        <a:t> </a:t>
                      </a:r>
                      <a:r>
                        <a:rPr lang="en-US" sz="2000" i="0" dirty="0">
                          <a:solidFill>
                            <a:srgbClr val="D9D9D9"/>
                          </a:solidFill>
                          <a:latin typeface="Arial" panose="020B0604020202020204"/>
                          <a:cs typeface="Arial" panose="020B0604020202020204"/>
                        </a:rPr>
                        <a:t>tab.</a:t>
                      </a:r>
                      <a:endParaRPr lang="en-US" sz="2000" i="0" dirty="0">
                        <a:solidFill>
                          <a:srgbClr val="D9D9D9"/>
                        </a:solidFill>
                        <a:latin typeface="Arial" panose="020B0604020202020204"/>
                        <a:cs typeface="Arial" panose="020B0604020202020204"/>
                      </a:endParaRPr>
                    </a:p>
                    <a:p>
                      <a:pPr defTabSz="3765550"/>
                      <a:endParaRPr lang="en-US" sz="2000" i="0" dirty="0">
                        <a:solidFill>
                          <a:srgbClr val="D9D9D9"/>
                        </a:solidFill>
                        <a:latin typeface="Arial" panose="020B0604020202020204"/>
                        <a:cs typeface="Arial" panose="020B0604020202020204"/>
                      </a:endParaRPr>
                    </a:p>
                    <a:p>
                      <a:pPr defTabSz="3765550"/>
                      <a:r>
                        <a:rPr lang="en-US" sz="2000" i="0" dirty="0">
                          <a:solidFill>
                            <a:srgbClr val="D9D9D9"/>
                          </a:solidFill>
                          <a:latin typeface="Arial" panose="020B0604020202020204"/>
                          <a:cs typeface="Arial" panose="020B0604020202020204"/>
                        </a:rPr>
                        <a:t>To print your poster using our same-day professional printing service, go online to </a:t>
                      </a:r>
                      <a:r>
                        <a:rPr lang="en-US" sz="2000" i="0" dirty="0" err="1">
                          <a:solidFill>
                            <a:srgbClr val="FFC000"/>
                          </a:solidFill>
                          <a:latin typeface="Arial" panose="020B0604020202020204"/>
                          <a:cs typeface="Arial" panose="020B0604020202020204"/>
                        </a:rPr>
                        <a:t>PosterPresentations.com</a:t>
                      </a:r>
                      <a:r>
                        <a:rPr lang="en-US" sz="2000" i="0" dirty="0">
                          <a:solidFill>
                            <a:srgbClr val="D9D9D9"/>
                          </a:solidFill>
                          <a:latin typeface="Arial" panose="020B0604020202020204"/>
                          <a:cs typeface="Arial" panose="020B0604020202020204"/>
                        </a:rPr>
                        <a:t> and click on "</a:t>
                      </a:r>
                      <a:r>
                        <a:rPr lang="en-US" sz="2000" i="0" dirty="0">
                          <a:solidFill>
                            <a:srgbClr val="FFC000"/>
                          </a:solidFill>
                          <a:latin typeface="Arial" panose="020B0604020202020204"/>
                          <a:cs typeface="Arial" panose="020B0604020202020204"/>
                        </a:rPr>
                        <a:t>Order your poster</a:t>
                      </a:r>
                      <a:r>
                        <a:rPr lang="en-US" sz="2000" i="0" dirty="0">
                          <a:solidFill>
                            <a:srgbClr val="D9D9D9"/>
                          </a:solidFill>
                          <a:latin typeface="Arial" panose="020B0604020202020204"/>
                          <a:cs typeface="Arial" panose="020B0604020202020204"/>
                        </a:rPr>
                        <a:t>".</a:t>
                      </a:r>
                      <a:endParaRPr lang="en-US" sz="2000" b="1" dirty="0">
                        <a:solidFill>
                          <a:srgbClr val="D9D9D9"/>
                        </a:solidFill>
                        <a:latin typeface="Arial" panose="020B0604020202020204"/>
                        <a:cs typeface="Arial" panose="020B0604020202020204"/>
                      </a:endParaRPr>
                    </a:p>
                  </a:txBody>
                  <a:tcPr marL="182880" marT="137160">
                    <a:solidFill>
                      <a:srgbClr val="010101"/>
                    </a:solidFill>
                  </a:tcPr>
                </a:tc>
                <a:tc hMerge="1">
                  <a:tcPr>
                    <a:solidFill>
                      <a:schemeClr val="tx1">
                        <a:lumMod val="95000"/>
                        <a:lumOff val="5000"/>
                      </a:schemeClr>
                    </a:solidFill>
                  </a:tcPr>
                </a:tc>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endParaRPr lang="en-US" sz="2000" dirty="0">
                        <a:solidFill>
                          <a:schemeClr val="bg1"/>
                        </a:solidFill>
                        <a:latin typeface="Arial" panose="020B0604020202020204" pitchFamily="34" charset="0"/>
                        <a:cs typeface="Arial" panose="020B0604020202020204" pitchFamily="34" charset="0"/>
                      </a:endParaRP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Virtual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Standard Size</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(4:3 Ratio)</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endParaRPr lang="en-US" sz="2000" b="0" baseline="0" dirty="0">
                        <a:solidFill>
                          <a:srgbClr val="FFC000"/>
                        </a:solidFill>
                        <a:latin typeface="Arial" panose="020B0604020202020204" pitchFamily="34" charset="0"/>
                        <a:cs typeface="Arial" panose="020B0604020202020204" pitchFamily="34" charset="0"/>
                      </a:endParaRPr>
                    </a:p>
                    <a:p>
                      <a:pPr marL="0" marR="0" indent="0" algn="l" defTabSz="4389120" rtl="0" eaLnBrk="1" fontAlgn="auto" latinLnBrk="0" hangingPunct="1">
                        <a:lnSpc>
                          <a:spcPct val="100000"/>
                        </a:lnSpc>
                        <a:spcBef>
                          <a:spcPts val="0"/>
                        </a:spcBef>
                        <a:spcAft>
                          <a:spcPts val="0"/>
                        </a:spcAft>
                        <a:buClrTx/>
                        <a:buSzTx/>
                        <a:buFontTx/>
                        <a:buNone/>
                        <a:defRPr/>
                      </a:pPr>
                      <a:r>
                        <a:rPr lang="en-US" sz="2000" b="0" baseline="0" dirty="0">
                          <a:solidFill>
                            <a:srgbClr val="FFC000"/>
                          </a:solidFill>
                          <a:latin typeface="Arial" panose="020B0604020202020204" pitchFamily="34" charset="0"/>
                          <a:cs typeface="Arial" panose="020B0604020202020204" pitchFamily="34" charset="0"/>
                        </a:rPr>
                        <a:t>36 tall x 48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endParaRPr lang="en-US" sz="20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tr>
              <a:tr h="4288692">
                <a:tc>
                  <a:txBody>
                    <a:bodyPr/>
                    <a:lstStyle/>
                    <a:p>
                      <a:endParaRPr lang="en-US" sz="2000" dirty="0">
                        <a:solidFill>
                          <a:srgbClr val="1F3A4E"/>
                        </a:solidFill>
                      </a:endParaRPr>
                    </a:p>
                  </a:txBody>
                  <a:tcPr>
                    <a:blipFill rotWithShape="1">
                      <a:blip r:embed="rId2"/>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endParaRPr lang="en-US" sz="2000" b="0" baseline="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r>
              <a:tr h="1800526">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lang="en-US" sz="2000" b="0" baseline="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cPr marL="182880" marT="137160">
                    <a:solidFill>
                      <a:schemeClr val="tx1">
                        <a:lumMod val="95000"/>
                        <a:lumOff val="5000"/>
                      </a:schemeClr>
                    </a:solidFill>
                  </a:tcPr>
                </a:tc>
              </a:tr>
              <a:tr h="3824339">
                <a:tc>
                  <a:txBody>
                    <a:bodyPr/>
                    <a:lstStyle/>
                    <a:p>
                      <a:endParaRPr lang="en-US" sz="2000" dirty="0">
                        <a:solidFill>
                          <a:srgbClr val="1F3A4E"/>
                        </a:solidFill>
                      </a:endParaRPr>
                    </a:p>
                  </a:txBody>
                  <a:tcPr>
                    <a:blipFill rotWithShape="1">
                      <a:blip r:embed="rId3"/>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endParaRPr lang="en-US" sz="2000" b="0" baseline="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endParaRPr lang="en-US" sz="2400" b="1" dirty="0">
                        <a:solidFill>
                          <a:srgbClr val="FFC000"/>
                        </a:solidFill>
                        <a:latin typeface="Arial" panose="020B0604020202020204" pitchFamily="34" charset="0"/>
                        <a:cs typeface="Arial" panose="020B0604020202020204" pitchFamily="34" charset="0"/>
                      </a:endParaRP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lang="en-US" sz="2000" baseline="0" dirty="0">
                        <a:solidFill>
                          <a:srgbClr val="D9D9D9"/>
                        </a:solidFill>
                        <a:latin typeface="Arial" panose="020B0604020202020204" pitchFamily="34" charset="0"/>
                        <a:cs typeface="Arial" panose="020B0604020202020204" pitchFamily="34" charset="0"/>
                      </a:endParaRP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cPr marL="182880" marT="137160">
                    <a:solidFill>
                      <a:srgbClr val="010101"/>
                    </a:solidFill>
                  </a:tcPr>
                </a:tc>
              </a:tr>
              <a:tr h="2377657">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400" b="1" noProof="0" dirty="0">
                          <a:solidFill>
                            <a:srgbClr val="FFC000"/>
                          </a:solidFill>
                          <a:latin typeface="Arial" panose="020B0604020202020204" pitchFamily="34" charset="0"/>
                          <a:cs typeface="Arial" panose="020B0604020202020204" pitchFamily="34" charset="0"/>
                        </a:rPr>
                        <a:t>Photos</a:t>
                      </a:r>
                      <a:endParaRPr lang="en-US" sz="2400" b="1" noProof="0" dirty="0">
                        <a:solidFill>
                          <a:srgbClr val="FFC000"/>
                        </a:solidFill>
                        <a:latin typeface="Arial" panose="020B0604020202020204" pitchFamily="34" charset="0"/>
                        <a:cs typeface="Arial" panose="020B0604020202020204" pitchFamily="34" charset="0"/>
                      </a:endParaRPr>
                    </a:p>
                    <a:p>
                      <a:pPr marL="0" marR="0" lvl="0" indent="0" algn="l" defTabSz="9779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srgbClr val="D9D9D9"/>
                          </a:solidFill>
                          <a:effectLst/>
                          <a:uLnTx/>
                          <a:uFillTx/>
                          <a:latin typeface="Arial" panose="020B0604020202020204"/>
                          <a:ea typeface="+mn-ea"/>
                          <a:cs typeface="Arial" panose="020B0604020202020204"/>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kumimoji="0" lang="en-US" sz="2000" b="0" i="0" u="none" strike="noStrike" kern="1200" cap="none" spc="0" normalizeH="0" baseline="0" noProof="0" dirty="0">
                        <a:ln>
                          <a:noFill/>
                        </a:ln>
                        <a:solidFill>
                          <a:srgbClr val="D9D9D9"/>
                        </a:solidFill>
                        <a:effectLst/>
                        <a:uLnTx/>
                        <a:uFillTx/>
                        <a:latin typeface="Arial" panose="020B0604020202020204"/>
                        <a:ea typeface="+mn-ea"/>
                        <a:cs typeface="Arial" panose="020B0604020202020204"/>
                      </a:endParaRPr>
                    </a:p>
                  </a:txBody>
                  <a:tcPr marL="182880" marT="137160">
                    <a:solidFill>
                      <a:srgbClr val="010101"/>
                    </a:solidFill>
                  </a:tcPr>
                </a:tc>
                <a:tc hMerge="1">
                  <a:tcPr/>
                </a:tc>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4"/>
                      <a:stretch>
                        <a:fillRect/>
                      </a:stretch>
                    </a:blipFill>
                  </a:tcPr>
                </a:tc>
                <a:tc hMerge="1">
                  <a:tcPr/>
                </a:tc>
              </a:tr>
              <a:tr h="1280277">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400" b="1" noProof="0" dirty="0">
                          <a:solidFill>
                            <a:srgbClr val="FFC000"/>
                          </a:solidFill>
                          <a:latin typeface="Arial" panose="020B0604020202020204"/>
                          <a:cs typeface="Arial" panose="020B0604020202020204"/>
                        </a:rPr>
                        <a:t>Quality check your graphics</a:t>
                      </a:r>
                      <a:endParaRPr lang="en-US" sz="2400" b="1" noProof="0" dirty="0">
                        <a:solidFill>
                          <a:srgbClr val="FFC000"/>
                        </a:solidFill>
                        <a:latin typeface="Arial" panose="020B0604020202020204"/>
                        <a:cs typeface="Arial" panose="020B0604020202020204"/>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000" noProof="0" dirty="0">
                          <a:solidFill>
                            <a:srgbClr val="D9D9D9"/>
                          </a:solidFill>
                          <a:latin typeface="Arial" panose="020B0604020202020204"/>
                          <a:cs typeface="Arial" panose="020B0604020202020204"/>
                        </a:rPr>
                        <a:t>Zoom in and look at your images at 100%-200% magnification. If they look clear, they will print well. </a:t>
                      </a:r>
                      <a:endParaRPr lang="en-US" sz="2000" noProof="0" dirty="0">
                        <a:solidFill>
                          <a:srgbClr val="D9D9D9"/>
                        </a:solidFill>
                        <a:latin typeface="Arial" panose="020B0604020202020204"/>
                        <a:cs typeface="Arial" panose="020B0604020202020204"/>
                      </a:endParaRPr>
                    </a:p>
                  </a:txBody>
                  <a:tcPr marL="182880" marT="137160">
                    <a:solidFill>
                      <a:srgbClr val="010101"/>
                    </a:solidFill>
                  </a:tcPr>
                </a:tc>
                <a:tc hMerge="1">
                  <a:tcPr>
                    <a:solidFill>
                      <a:schemeClr val="tx1">
                        <a:lumMod val="95000"/>
                        <a:lumOff val="5000"/>
                      </a:schemeClr>
                    </a:solidFill>
                  </a:tcPr>
                </a:tc>
              </a:tr>
              <a:tr h="3187270">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000" noProof="0" dirty="0">
                        <a:solidFill>
                          <a:schemeClr val="bg1"/>
                        </a:solidFill>
                        <a:latin typeface="Arial" panose="020B0604020202020204"/>
                        <a:cs typeface="Arial" panose="020B0604020202020204"/>
                      </a:endParaRPr>
                    </a:p>
                  </a:txBody>
                  <a:tcPr marL="182880" marT="137160">
                    <a:blipFill rotWithShape="1">
                      <a:blip r:embed="rId5"/>
                      <a:stretch>
                        <a:fillRect/>
                      </a:stretch>
                    </a:blipFill>
                  </a:tcPr>
                </a:tc>
                <a:tc hMerge="1">
                  <a:tcPr/>
                </a:tc>
              </a:tr>
            </a:tbl>
          </a:graphicData>
        </a:graphic>
      </p:graphicFrame>
      <p:graphicFrame>
        <p:nvGraphicFramePr>
          <p:cNvPr id="11" name="Table 10"/>
          <p:cNvGraphicFramePr>
            <a:graphicFrameLocks noGrp="1"/>
          </p:cNvGraphicFramePr>
          <p:nvPr userDrawn="1"/>
        </p:nvGraphicFramePr>
        <p:xfrm>
          <a:off x="44635119" y="14098"/>
          <a:ext cx="9490298" cy="33222224"/>
        </p:xfrm>
        <a:graphic>
          <a:graphicData uri="http://schemas.openxmlformats.org/drawingml/2006/table">
            <a:tbl>
              <a:tblPr firstRow="1" bandRow="1">
                <a:tableStyleId>{5C22544A-7EE6-4342-B048-85BDC9FD1C3A}</a:tableStyleId>
              </a:tblPr>
              <a:tblGrid>
                <a:gridCol w="3403945"/>
                <a:gridCol w="1381559"/>
                <a:gridCol w="4704794"/>
              </a:tblGrid>
              <a:tr h="1313206">
                <a:tc gridSpan="3">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anose="020B0603020202020204" pitchFamily="34" charset="0"/>
                        </a:rPr>
                        <a:t>(THIS SIDEBAR WILL NOT PRINT)</a:t>
                      </a:r>
                      <a:endParaRPr lang="en-US" sz="4000" b="1" spc="600" dirty="0">
                        <a:solidFill>
                          <a:schemeClr val="bg1"/>
                        </a:solidFill>
                        <a:latin typeface="Trebuchet MS" panose="020B0603020202020204" pitchFamily="34" charset="0"/>
                      </a:endParaRPr>
                    </a:p>
                  </a:txBody>
                  <a:tcPr marL="182880" marT="137160">
                    <a:solidFill>
                      <a:srgbClr val="FFC000"/>
                    </a:solidFill>
                  </a:tcPr>
                </a:tc>
                <a:tc hMerge="1">
                  <a:tcPr/>
                </a:tc>
                <a:tc hMerge="1">
                  <a:tcPr/>
                </a:tc>
              </a:tr>
              <a:tr h="5092177">
                <a:tc gridSpan="3">
                  <a:txBody>
                    <a:bodyPr/>
                    <a:lstStyle/>
                    <a:p>
                      <a:pPr algn="l"/>
                      <a:r>
                        <a:rPr lang="en-US" sz="2900" b="1" baseline="0" dirty="0">
                          <a:solidFill>
                            <a:srgbClr val="FFC000"/>
                          </a:solidFill>
                          <a:latin typeface="Arial" panose="020B0604020202020204" pitchFamily="34" charset="0"/>
                          <a:cs typeface="Arial" panose="020B0604020202020204" pitchFamily="34" charset="0"/>
                        </a:rPr>
                        <a:t>How to change the template colors</a:t>
                      </a:r>
                      <a:endParaRPr lang="en-US" sz="2900" b="1" baseline="0" dirty="0">
                        <a:solidFill>
                          <a:srgbClr val="FFC000"/>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6"/>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endParaRPr lang="en-US" sz="2400" b="0" baseline="0" dirty="0">
                        <a:solidFill>
                          <a:srgbClr val="D9D9D9"/>
                        </a:solidFill>
                        <a:latin typeface="Arial" panose="020B0604020202020204" pitchFamily="34" charset="0"/>
                        <a:cs typeface="Arial" panose="020B0604020202020204" pitchFamily="34" charset="0"/>
                      </a:endParaRPr>
                    </a:p>
                  </a:txBody>
                  <a:tcPr marL="182880" marT="137160">
                    <a:solidFill>
                      <a:schemeClr val="tx1"/>
                    </a:solidFill>
                  </a:tcPr>
                </a:tc>
                <a:tc hMerge="1">
                  <a:tcPr marL="182880" marT="137160">
                    <a:blipFill rotWithShape="1">
                      <a:blip r:embed="rId7"/>
                      <a:stretch>
                        <a:fillRect/>
                      </a:stretch>
                    </a:blipFill>
                  </a:tcPr>
                </a:tc>
                <a:tc hMerge="1">
                  <a:tcPr/>
                </a:tc>
              </a:tr>
              <a:tr h="2856588">
                <a:tc gridSpan="3">
                  <a:txBody>
                    <a:bodyPr/>
                    <a:lstStyle/>
                    <a:p>
                      <a:r>
                        <a:rPr lang="en-US" sz="2900" b="1" dirty="0">
                          <a:solidFill>
                            <a:srgbClr val="FFC000"/>
                          </a:solidFill>
                          <a:latin typeface="Arial" panose="020B0604020202020204" pitchFamily="34" charset="0"/>
                          <a:cs typeface="Arial" panose="020B0604020202020204" pitchFamily="34" charset="0"/>
                        </a:rPr>
                        <a:t>How to change the column layout configuration</a:t>
                      </a:r>
                      <a:endParaRPr lang="en-US" sz="29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endParaRPr lang="en-US" sz="2400" dirty="0">
                        <a:solidFill>
                          <a:srgbClr val="D9D9D9"/>
                        </a:solidFill>
                        <a:latin typeface="Arial" panose="020B0604020202020204" pitchFamily="34" charset="0"/>
                        <a:cs typeface="Arial" panose="020B0604020202020204" pitchFamily="34" charset="0"/>
                      </a:endParaRPr>
                    </a:p>
                    <a:p>
                      <a:pPr marL="0" marR="0" indent="0" algn="l" defTabSz="3765550" rtl="0" eaLnBrk="1" fontAlgn="auto" latinLnBrk="0" hangingPunct="1">
                        <a:lnSpc>
                          <a:spcPct val="100000"/>
                        </a:lnSpc>
                        <a:spcBef>
                          <a:spcPts val="0"/>
                        </a:spcBef>
                        <a:spcAft>
                          <a:spcPts val="0"/>
                        </a:spcAft>
                        <a:buClrTx/>
                        <a:buSzTx/>
                        <a:buFontTx/>
                        <a:buNone/>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8600" u="sng" dirty="0">
                        <a:solidFill>
                          <a:srgbClr val="FFC000"/>
                        </a:solidFill>
                      </a:endParaRPr>
                    </a:p>
                  </a:txBody>
                  <a:tcPr marL="182880" marT="137160">
                    <a:solidFill>
                      <a:schemeClr val="tx1"/>
                    </a:solidFill>
                  </a:tcPr>
                </a:tc>
                <a:tc hMerge="1">
                  <a:tcPr marL="182880" marT="137160">
                    <a:blipFill rotWithShape="1">
                      <a:blip r:embed="rId8"/>
                      <a:stretch>
                        <a:fillRect/>
                      </a:stretch>
                    </a:blipFill>
                  </a:tcPr>
                </a:tc>
                <a:tc hMerge="1">
                  <a:tcPr marL="182880" marT="137160">
                    <a:solidFill>
                      <a:srgbClr val="010101"/>
                    </a:solidFill>
                  </a:tcPr>
                </a:tc>
              </a:tr>
              <a:tr h="3870672">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cPr/>
                </a:tc>
                <a:tc row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9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endParaRPr lang="en-US" sz="2900" b="1" noProof="0" dirty="0">
                        <a:solidFill>
                          <a:srgbClr val="FFC000"/>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r>
              <a:tr h="3581295">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cPr/>
                </a:tc>
                <a:tc vMerge="1">
                  <a:tcPr/>
                </a:tc>
              </a:tr>
              <a:tr h="3663884">
                <a:tc gridSpan="2">
                  <a:txBody>
                    <a:bodyPr/>
                    <a:lstStyle/>
                    <a:p>
                      <a:r>
                        <a:rPr lang="en-US" sz="2900" b="1" dirty="0">
                          <a:solidFill>
                            <a:srgbClr val="FFC000"/>
                          </a:solidFill>
                          <a:latin typeface="Arial" panose="020B0604020202020204" pitchFamily="34" charset="0"/>
                          <a:cs typeface="Arial" panose="020B0604020202020204" pitchFamily="34" charset="0"/>
                        </a:rPr>
                        <a:t>How to</a:t>
                      </a:r>
                      <a:r>
                        <a:rPr lang="en-US" sz="2900" b="1" baseline="0" dirty="0">
                          <a:solidFill>
                            <a:srgbClr val="FFC000"/>
                          </a:solidFill>
                          <a:latin typeface="Arial" panose="020B0604020202020204" pitchFamily="34" charset="0"/>
                          <a:cs typeface="Arial" panose="020B0604020202020204" pitchFamily="34" charset="0"/>
                        </a:rPr>
                        <a:t> preview your poster prior to presenting</a:t>
                      </a:r>
                      <a:endParaRPr lang="en-US" sz="29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endParaRPr lang="en-US" sz="240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8600" dirty="0"/>
                    </a:p>
                  </a:txBody>
                  <a:tcPr marL="182880" marT="137160" anchor="ctr">
                    <a:solidFill>
                      <a:schemeClr val="tx1">
                        <a:lumMod val="95000"/>
                        <a:lumOff val="5000"/>
                      </a:schemeClr>
                    </a:solidFill>
                  </a:tcPr>
                </a:tc>
              </a:tr>
              <a:tr h="1738793">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2900" b="1" noProof="0" dirty="0">
                          <a:solidFill>
                            <a:srgbClr val="FFC000"/>
                          </a:solidFill>
                          <a:latin typeface="Arial" panose="020B0604020202020204"/>
                          <a:cs typeface="Arial" panose="020B0604020202020204"/>
                        </a:rPr>
                        <a:t>How to present your poster</a:t>
                      </a:r>
                      <a:endParaRPr lang="en-US" sz="2900" b="1" noProof="0" dirty="0">
                        <a:solidFill>
                          <a:srgbClr val="FFC000"/>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2400" noProof="0" dirty="0">
                          <a:solidFill>
                            <a:srgbClr val="D9D9D9"/>
                          </a:solidFill>
                          <a:latin typeface="Arial" panose="020B0604020202020204"/>
                          <a:cs typeface="Arial" panose="020B0604020202020204"/>
                        </a:rPr>
                        <a:t>When you finish designing your poster and are ready to virtually present it, follow the conference organizers' instructions. </a:t>
                      </a:r>
                      <a:endParaRPr lang="en-US" sz="2400" noProof="0" dirty="0">
                        <a:solidFill>
                          <a:srgbClr val="D9D9D9"/>
                        </a:solidFill>
                        <a:latin typeface="Arial" panose="020B0604020202020204"/>
                        <a:cs typeface="Arial" panose="020B0604020202020204"/>
                      </a:endParaRPr>
                    </a:p>
                  </a:txBody>
                  <a:tcPr marL="182880" marT="137160">
                    <a:solidFill>
                      <a:srgbClr val="010101"/>
                    </a:solidFill>
                  </a:tcPr>
                </a:tc>
                <a:tc hMerge="1">
                  <a:tcPr/>
                </a:tc>
                <a:tc hMerge="1">
                  <a:tcPr/>
                </a:tc>
              </a:tr>
              <a:tr h="8006246">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3200" b="1" noProof="0" dirty="0">
                          <a:solidFill>
                            <a:srgbClr val="FFC000"/>
                          </a:solidFill>
                          <a:latin typeface="Arial" panose="020B0604020202020204"/>
                          <a:cs typeface="Arial" panose="020B0604020202020204"/>
                        </a:rPr>
                        <a:t>Publish, present virtually, share, and discuss!</a:t>
                      </a:r>
                      <a:endParaRPr lang="en-US" sz="3200" b="1" noProof="0" dirty="0">
                        <a:solidFill>
                          <a:srgbClr val="FFC000"/>
                        </a:solidFill>
                        <a:latin typeface="Arial" panose="020B0604020202020204"/>
                        <a:cs typeface="Arial" panose="020B0604020202020204"/>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400" b="0" noProof="0" dirty="0">
                          <a:solidFill>
                            <a:schemeClr val="bg1"/>
                          </a:solidFill>
                          <a:latin typeface="Arial" panose="020B0604020202020204"/>
                          <a:cs typeface="Arial" panose="020B0604020202020204"/>
                        </a:rPr>
                        <a:t>Submit your poster and add it to the Research Poster Virtual Library.</a:t>
                      </a:r>
                      <a:br>
                        <a:rPr lang="en-US" sz="2400" b="0" noProof="0" dirty="0">
                          <a:solidFill>
                            <a:srgbClr val="FFC000"/>
                          </a:solidFill>
                          <a:latin typeface="Arial" panose="020B0604020202020204"/>
                          <a:cs typeface="Arial" panose="020B0604020202020204"/>
                        </a:rPr>
                      </a:br>
                      <a:br>
                        <a:rPr lang="en-US" sz="2400" b="0" noProof="0" dirty="0">
                          <a:solidFill>
                            <a:srgbClr val="FFC000"/>
                          </a:solidFill>
                          <a:latin typeface="Arial" panose="020B0604020202020204"/>
                          <a:cs typeface="Arial" panose="020B0604020202020204"/>
                        </a:rPr>
                      </a:br>
                      <a:r>
                        <a:rPr lang="en-US" sz="2400" b="1" noProof="0" dirty="0">
                          <a:solidFill>
                            <a:srgbClr val="FFC000"/>
                          </a:solidFill>
                          <a:latin typeface="Arial" panose="020B0604020202020204"/>
                          <a:cs typeface="Arial" panose="020B0604020202020204"/>
                        </a:rPr>
                        <a:t>Continuous global reach</a:t>
                      </a:r>
                      <a:endParaRPr lang="en-US" sz="2400" b="1" noProof="0" dirty="0">
                        <a:solidFill>
                          <a:srgbClr val="FFC000"/>
                        </a:solidFill>
                        <a:latin typeface="Arial" panose="020B0604020202020204"/>
                        <a:cs typeface="Arial" panose="020B0604020202020204"/>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400" b="0" noProof="0" dirty="0">
                          <a:solidFill>
                            <a:schemeClr val="bg1"/>
                          </a:solidFill>
                          <a:latin typeface="Arial" panose="020B0604020202020204"/>
                          <a:cs typeface="Arial" panose="020B0604020202020204"/>
                        </a:rPr>
                        <a:t>Share your research with thousands of students, educators, scientists, and researchers from all over the United States and the World.</a:t>
                      </a:r>
                      <a:endParaRPr lang="en-US" sz="2400" b="0" noProof="0" dirty="0">
                        <a:solidFill>
                          <a:schemeClr val="bg1"/>
                        </a:solidFill>
                        <a:latin typeface="Arial" panose="020B0604020202020204"/>
                        <a:cs typeface="Arial" panose="020B0604020202020204"/>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2400" b="0" noProof="0" dirty="0">
                        <a:solidFill>
                          <a:srgbClr val="FFC000"/>
                        </a:solidFill>
                        <a:latin typeface="Arial" panose="020B0604020202020204"/>
                        <a:cs typeface="Arial" panose="020B0604020202020204"/>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400" b="1" noProof="0" dirty="0">
                          <a:solidFill>
                            <a:srgbClr val="FFC000"/>
                          </a:solidFill>
                          <a:latin typeface="Arial" panose="020B0604020202020204"/>
                          <a:cs typeface="Arial" panose="020B0604020202020204"/>
                        </a:rPr>
                        <a:t>Full-featured poster showcase included</a:t>
                      </a:r>
                      <a:endParaRPr lang="en-US" sz="2400" b="1" noProof="0" dirty="0">
                        <a:solidFill>
                          <a:srgbClr val="FFC000"/>
                        </a:solidFill>
                        <a:latin typeface="Arial" panose="020B0604020202020204"/>
                        <a:cs typeface="Arial" panose="020B0604020202020204"/>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400" b="0" noProof="0" dirty="0">
                          <a:solidFill>
                            <a:schemeClr val="bg1"/>
                          </a:solidFill>
                          <a:latin typeface="Arial" panose="020B0604020202020204"/>
                          <a:cs typeface="Arial" panose="020B0604020202020204"/>
                        </a:rPr>
                        <a:t>Present your poster on a  professional full-featured and customizable web page that includes full screen functions, social sharing, your own discussion board, private contact form, narration and more.</a:t>
                      </a:r>
                      <a:endParaRPr lang="en-US" sz="2400" b="0" noProof="0" dirty="0">
                        <a:solidFill>
                          <a:schemeClr val="bg1"/>
                        </a:solidFill>
                        <a:latin typeface="Arial" panose="020B0604020202020204"/>
                        <a:cs typeface="Arial" panose="020B0604020202020204"/>
                      </a:endParaRPr>
                    </a:p>
                    <a:p>
                      <a:pPr marL="0" marR="0" lvl="0" indent="0" algn="l" defTabSz="1518285" rtl="0" eaLnBrk="1" fontAlgn="auto" latinLnBrk="0" hangingPunct="1">
                        <a:lnSpc>
                          <a:spcPct val="100000"/>
                        </a:lnSpc>
                        <a:spcBef>
                          <a:spcPts val="0"/>
                        </a:spcBef>
                        <a:spcAft>
                          <a:spcPts val="0"/>
                        </a:spcAft>
                        <a:buClrTx/>
                        <a:buSzTx/>
                        <a:buFontTx/>
                        <a:buNone/>
                        <a:defRPr/>
                      </a:pPr>
                      <a:endParaRPr lang="en-US" sz="2400" b="0" noProof="0" dirty="0">
                        <a:solidFill>
                          <a:srgbClr val="FFC000"/>
                        </a:solidFill>
                        <a:latin typeface="Arial" panose="020B0604020202020204"/>
                        <a:cs typeface="Arial" panose="020B0604020202020204"/>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400" b="1" noProof="0" dirty="0">
                          <a:solidFill>
                            <a:srgbClr val="FFC000"/>
                          </a:solidFill>
                          <a:latin typeface="Arial" panose="020B0604020202020204"/>
                          <a:cs typeface="Arial" panose="020B0604020202020204"/>
                        </a:rPr>
                        <a:t>Convenience for presenter groups and conference coordinators </a:t>
                      </a:r>
                      <a:endParaRPr lang="en-US" sz="2400" b="1" noProof="0" dirty="0">
                        <a:solidFill>
                          <a:srgbClr val="FFC000"/>
                        </a:solidFill>
                        <a:latin typeface="Arial" panose="020B0604020202020204"/>
                        <a:cs typeface="Arial" panose="020B0604020202020204"/>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400" b="0" noProof="0" dirty="0">
                          <a:solidFill>
                            <a:schemeClr val="bg1"/>
                          </a:solidFill>
                          <a:latin typeface="Arial" panose="020B0604020202020204"/>
                          <a:cs typeface="Arial" panose="020B0604020202020204"/>
                        </a:rPr>
                        <a:t>Published posters can easily be presented at virtual conferences. Perfect solution for organizers of meetings and conferences.</a:t>
                      </a:r>
                      <a:br>
                        <a:rPr lang="en-US" sz="2400" b="0" noProof="0" dirty="0">
                          <a:solidFill>
                            <a:srgbClr val="FFC000"/>
                          </a:solidFill>
                          <a:latin typeface="Arial" panose="020B0604020202020204"/>
                          <a:cs typeface="Arial" panose="020B0604020202020204"/>
                        </a:rPr>
                      </a:br>
                      <a:endParaRPr lang="en-US" sz="2400" b="0" noProof="0" dirty="0">
                        <a:solidFill>
                          <a:srgbClr val="FFC000"/>
                        </a:solidFill>
                        <a:latin typeface="Arial" panose="020B0604020202020204"/>
                        <a:cs typeface="Arial" panose="020B0604020202020204"/>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2900" b="1" noProof="0" dirty="0">
                          <a:solidFill>
                            <a:srgbClr val="FFC000"/>
                          </a:solidFill>
                          <a:latin typeface="Arial" panose="020B0604020202020204"/>
                          <a:cs typeface="Arial" panose="020B0604020202020204"/>
                        </a:rPr>
                        <a:t>https://</a:t>
                      </a:r>
                      <a:r>
                        <a:rPr lang="en-US" sz="2900" b="1" noProof="0" dirty="0" err="1">
                          <a:solidFill>
                            <a:srgbClr val="FFC000"/>
                          </a:solidFill>
                          <a:latin typeface="Arial" panose="020B0604020202020204"/>
                          <a:cs typeface="Arial" panose="020B0604020202020204"/>
                        </a:rPr>
                        <a:t>www.PosterPresentations.com</a:t>
                      </a:r>
                      <a:r>
                        <a:rPr lang="en-US" sz="2900" b="1" noProof="0" dirty="0">
                          <a:solidFill>
                            <a:srgbClr val="FFC000"/>
                          </a:solidFill>
                          <a:latin typeface="Arial" panose="020B0604020202020204"/>
                          <a:cs typeface="Arial" panose="020B0604020202020204"/>
                        </a:rPr>
                        <a:t>/research</a:t>
                      </a:r>
                      <a:endParaRPr lang="en-US" sz="2900" b="1" noProof="0" dirty="0">
                        <a:solidFill>
                          <a:srgbClr val="FFC000"/>
                        </a:solidFill>
                        <a:latin typeface="Arial" panose="020B0604020202020204"/>
                        <a:cs typeface="Arial" panose="020B0604020202020204"/>
                      </a:endParaRPr>
                    </a:p>
                  </a:txBody>
                  <a:tcPr marL="182880" marT="137160">
                    <a:solidFill>
                      <a:schemeClr val="accent5">
                        <a:lumMod val="50000"/>
                      </a:schemeClr>
                    </a:solidFill>
                  </a:tcPr>
                </a:tc>
                <a:tc hMerge="1">
                  <a:tcPr/>
                </a:tc>
                <a:tc hMerge="1">
                  <a:tcPr/>
                </a:tc>
              </a:tr>
              <a:tr h="1287327">
                <a:tc gridSpan="3">
                  <a:txBody>
                    <a:bodyPr/>
                    <a:lstStyle/>
                    <a:p>
                      <a:endParaRPr lang="en-US" sz="2400" dirty="0">
                        <a:solidFill>
                          <a:srgbClr val="1F3A4E"/>
                        </a:solidFill>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cPr/>
                </a:tc>
                <a:tc hMerge="1">
                  <a:tcPr/>
                </a:tc>
              </a:tr>
              <a:tr h="1494115">
                <a:tc>
                  <a:txBody>
                    <a:bodyPr/>
                    <a:lstStyle/>
                    <a:p>
                      <a:pPr>
                        <a:lnSpc>
                          <a:spcPts val="2600"/>
                        </a:lnSpc>
                      </a:pPr>
                      <a:r>
                        <a:rPr lang="en-US" sz="2100" dirty="0">
                          <a:solidFill>
                            <a:schemeClr val="bg1">
                              <a:lumMod val="85000"/>
                            </a:schemeClr>
                          </a:solidFill>
                          <a:latin typeface="Arial" panose="020B0604020202020204"/>
                          <a:cs typeface="Arial" panose="020B0604020202020204"/>
                        </a:rPr>
                        <a:t>© 2020</a:t>
                      </a:r>
                      <a:r>
                        <a:rPr lang="en-US" sz="2100" baseline="0" dirty="0">
                          <a:solidFill>
                            <a:schemeClr val="bg1">
                              <a:lumMod val="85000"/>
                            </a:schemeClr>
                          </a:solidFill>
                          <a:latin typeface="Arial" panose="020B0604020202020204"/>
                          <a:cs typeface="Arial" panose="020B0604020202020204"/>
                        </a:rPr>
                        <a:t> </a:t>
                      </a:r>
                      <a:r>
                        <a:rPr lang="en-US" sz="2100" dirty="0" err="1">
                          <a:solidFill>
                            <a:schemeClr val="bg1">
                              <a:lumMod val="85000"/>
                            </a:schemeClr>
                          </a:solidFill>
                          <a:latin typeface="Arial" panose="020B0604020202020204"/>
                          <a:cs typeface="Arial" panose="020B0604020202020204"/>
                        </a:rPr>
                        <a:t>PosterPresentations.com</a:t>
                      </a:r>
                      <a:br>
                        <a:rPr lang="en-US" sz="2100" dirty="0">
                          <a:solidFill>
                            <a:schemeClr val="bg1">
                              <a:lumMod val="85000"/>
                            </a:schemeClr>
                          </a:solidFill>
                          <a:latin typeface="Arial" panose="020B0604020202020204"/>
                          <a:cs typeface="Arial" panose="020B0604020202020204"/>
                        </a:rPr>
                      </a:br>
                      <a:r>
                        <a:rPr lang="en-US" sz="2100" dirty="0">
                          <a:solidFill>
                            <a:schemeClr val="bg1">
                              <a:lumMod val="85000"/>
                            </a:schemeClr>
                          </a:solidFill>
                          <a:latin typeface="Arial" panose="020B0604020202020204"/>
                          <a:cs typeface="Arial" panose="020B0604020202020204"/>
                        </a:rPr>
                        <a:t>2117 Fourth Street ,</a:t>
                      </a:r>
                      <a:r>
                        <a:rPr lang="en-US" sz="2100" baseline="0" dirty="0">
                          <a:solidFill>
                            <a:schemeClr val="bg1">
                              <a:lumMod val="85000"/>
                            </a:schemeClr>
                          </a:solidFill>
                          <a:latin typeface="Arial" panose="020B0604020202020204"/>
                          <a:cs typeface="Arial" panose="020B0604020202020204"/>
                        </a:rPr>
                        <a:t> STE C        </a:t>
                      </a:r>
                      <a:endParaRPr lang="en-US" sz="2100" baseline="0" dirty="0">
                        <a:solidFill>
                          <a:schemeClr val="bg1">
                            <a:lumMod val="85000"/>
                          </a:schemeClr>
                        </a:solidFill>
                        <a:latin typeface="Arial" panose="020B0604020202020204"/>
                        <a:cs typeface="Arial" panose="020B0604020202020204"/>
                      </a:endParaRPr>
                    </a:p>
                    <a:p>
                      <a:pPr>
                        <a:lnSpc>
                          <a:spcPts val="2600"/>
                        </a:lnSpc>
                      </a:pPr>
                      <a:r>
                        <a:rPr lang="en-US" sz="2100" baseline="0" dirty="0">
                          <a:solidFill>
                            <a:schemeClr val="bg1">
                              <a:lumMod val="85000"/>
                            </a:schemeClr>
                          </a:solidFill>
                          <a:latin typeface="Arial" panose="020B0604020202020204"/>
                          <a:cs typeface="Arial" panose="020B0604020202020204"/>
                        </a:rPr>
                        <a:t>Berkeley CA 94710 USA</a:t>
                      </a:r>
                      <a:endParaRPr lang="en-US" sz="2100" dirty="0">
                        <a:solidFill>
                          <a:schemeClr val="bg1">
                            <a:lumMod val="85000"/>
                          </a:schemeClr>
                        </a:solidFill>
                        <a:latin typeface="Arial" panose="020B0604020202020204"/>
                        <a:cs typeface="Arial" panose="020B0604020202020204"/>
                      </a:endParaRPr>
                    </a:p>
                  </a:txBody>
                  <a:tcPr marL="182880" marT="137160">
                    <a:solidFill>
                      <a:srgbClr val="010101"/>
                    </a:solidFill>
                  </a:tcPr>
                </a:tc>
                <a:tc gridSpan="2">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2400" b="1" dirty="0">
                          <a:solidFill>
                            <a:srgbClr val="D0D0D0"/>
                          </a:solidFill>
                          <a:latin typeface="Arial" panose="020B0604020202020204"/>
                          <a:cs typeface="Arial" panose="020B0604020202020204"/>
                        </a:rPr>
                        <a:t>For complete tutorials</a:t>
                      </a:r>
                      <a:r>
                        <a:rPr lang="en-US" sz="2400" b="1" baseline="0" dirty="0">
                          <a:solidFill>
                            <a:srgbClr val="D0D0D0"/>
                          </a:solidFill>
                          <a:latin typeface="Arial" panose="020B0604020202020204"/>
                          <a:cs typeface="Arial" panose="020B0604020202020204"/>
                        </a:rPr>
                        <a:t> visit:</a:t>
                      </a:r>
                      <a:endParaRPr lang="en-US" sz="2400" b="1" baseline="0" dirty="0">
                        <a:solidFill>
                          <a:srgbClr val="D0D0D0"/>
                        </a:solidFill>
                        <a:latin typeface="Arial" panose="020B0604020202020204"/>
                        <a:cs typeface="Arial" panose="020B0604020202020204"/>
                      </a:endParaRPr>
                    </a:p>
                    <a:p>
                      <a:pPr marL="0" marR="0" indent="0" algn="l" defTabSz="4389120" rtl="0" eaLnBrk="1" fontAlgn="auto" latinLnBrk="0" hangingPunct="1">
                        <a:lnSpc>
                          <a:spcPct val="100000"/>
                        </a:lnSpc>
                        <a:spcBef>
                          <a:spcPts val="0"/>
                        </a:spcBef>
                        <a:spcAft>
                          <a:spcPts val="0"/>
                        </a:spcAft>
                        <a:buClrTx/>
                        <a:buSzTx/>
                        <a:buFontTx/>
                        <a:buNone/>
                        <a:defRPr/>
                      </a:pPr>
                      <a:r>
                        <a:rPr lang="en-US" sz="1800" b="1" dirty="0">
                          <a:solidFill>
                            <a:srgbClr val="FFC000"/>
                          </a:solidFill>
                          <a:latin typeface="Arial" panose="020B0604020202020204"/>
                          <a:cs typeface="Arial" panose="020B0604020202020204"/>
                        </a:rPr>
                        <a:t>https://</a:t>
                      </a:r>
                      <a:r>
                        <a:rPr lang="en-US" sz="1800" b="1" dirty="0" err="1">
                          <a:solidFill>
                            <a:srgbClr val="FFC000"/>
                          </a:solidFill>
                          <a:latin typeface="Arial" panose="020B0604020202020204"/>
                          <a:cs typeface="Arial" panose="020B0604020202020204"/>
                        </a:rPr>
                        <a:t>www.posterpresentations.com</a:t>
                      </a:r>
                      <a:r>
                        <a:rPr lang="en-US" sz="1800" b="1" dirty="0">
                          <a:solidFill>
                            <a:srgbClr val="FFC000"/>
                          </a:solidFill>
                          <a:latin typeface="Arial" panose="020B0604020202020204"/>
                          <a:cs typeface="Arial" panose="020B0604020202020204"/>
                        </a:rPr>
                        <a:t>/</a:t>
                      </a:r>
                      <a:r>
                        <a:rPr lang="en-US" sz="1800" b="1" dirty="0" err="1">
                          <a:solidFill>
                            <a:srgbClr val="FFC000"/>
                          </a:solidFill>
                          <a:latin typeface="Arial" panose="020B0604020202020204"/>
                          <a:cs typeface="Arial" panose="020B0604020202020204"/>
                        </a:rPr>
                        <a:t>helpdesk.html</a:t>
                      </a:r>
                      <a:endParaRPr lang="en-US" sz="1800" dirty="0">
                        <a:solidFill>
                          <a:schemeClr val="bg1">
                            <a:lumMod val="85000"/>
                          </a:schemeClr>
                        </a:solidFill>
                        <a:latin typeface="Arial" panose="020B0604020202020204"/>
                        <a:cs typeface="Arial" panose="020B0604020202020204"/>
                      </a:endParaRPr>
                    </a:p>
                  </a:txBody>
                  <a:tcPr marL="182880" marT="137160">
                    <a:solidFill>
                      <a:srgbClr val="010101"/>
                    </a:solidFill>
                  </a:tcPr>
                </a:tc>
                <a:tc hMerge="1">
                  <a:tcPr/>
                </a:tc>
              </a:tr>
            </a:tbl>
          </a:graphicData>
        </a:graphic>
      </p:graphicFrame>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389120" rtl="0" eaLnBrk="1" latinLnBrk="0" hangingPunct="1">
        <a:spcBef>
          <a:spcPct val="0"/>
        </a:spcBef>
        <a:buNone/>
        <a:defRPr sz="8800" kern="1200">
          <a:solidFill>
            <a:schemeClr val="bg1"/>
          </a:solidFill>
          <a:latin typeface="Trebuchet MS" panose="020B0603020202020204" pitchFamily="34" charset="0"/>
          <a:ea typeface="+mj-ea"/>
          <a:cs typeface="+mj-cs"/>
        </a:defRPr>
      </a:lvl1pPr>
    </p:titleStyle>
    <p:bodyStyle>
      <a:lvl1pPr marL="1645920" indent="-1645920" algn="l" defTabSz="4389120" rtl="0" eaLnBrk="1" latinLnBrk="0" hangingPunct="1">
        <a:spcBef>
          <a:spcPct val="20000"/>
        </a:spcBef>
        <a:buFont typeface="Arial" panose="020B0604020202020204" pitchFamily="34" charset="0"/>
        <a:buChar char="•"/>
        <a:defRPr sz="15400" kern="1200">
          <a:solidFill>
            <a:schemeClr val="tx1"/>
          </a:solidFill>
          <a:latin typeface="+mn-lt"/>
          <a:ea typeface="+mn-ea"/>
          <a:cs typeface="+mn-cs"/>
        </a:defRPr>
      </a:lvl1pPr>
      <a:lvl2pPr marL="3566160" indent="-1371600" algn="l" defTabSz="4389120" rtl="0" eaLnBrk="1" latinLnBrk="0" hangingPunct="1">
        <a:spcBef>
          <a:spcPct val="20000"/>
        </a:spcBef>
        <a:buFont typeface="Arial" panose="020B0604020202020204" pitchFamily="34" charset="0"/>
        <a:buChar char="–"/>
        <a:defRPr sz="135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20204" pitchFamily="34" charset="0"/>
        <a:buChar char="•"/>
        <a:defRPr sz="11600" kern="1200">
          <a:solidFill>
            <a:schemeClr val="tx1"/>
          </a:solidFill>
          <a:latin typeface="+mn-lt"/>
          <a:ea typeface="+mn-ea"/>
          <a:cs typeface="+mn-cs"/>
        </a:defRPr>
      </a:lvl3pPr>
      <a:lvl4pPr marL="768032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4pPr>
      <a:lvl5pPr marL="987488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5pPr>
      <a:lvl6pPr marL="1206944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9pPr>
    </p:bodyStyle>
    <p:other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045" algn="l" defTabSz="4389120" rtl="0" eaLnBrk="1" latinLnBrk="0" hangingPunct="1">
        <a:defRPr sz="8600" kern="1200">
          <a:solidFill>
            <a:schemeClr val="tx1"/>
          </a:solidFill>
          <a:latin typeface="+mn-lt"/>
          <a:ea typeface="+mn-ea"/>
          <a:cs typeface="+mn-cs"/>
        </a:defRPr>
      </a:lvl4pPr>
      <a:lvl5pPr marL="8777605" algn="l" defTabSz="4389120" rtl="0" eaLnBrk="1" latinLnBrk="0" hangingPunct="1">
        <a:defRPr sz="8600" kern="1200">
          <a:solidFill>
            <a:schemeClr val="tx1"/>
          </a:solidFill>
          <a:latin typeface="+mn-lt"/>
          <a:ea typeface="+mn-ea"/>
          <a:cs typeface="+mn-cs"/>
        </a:defRPr>
      </a:lvl5pPr>
      <a:lvl6pPr marL="10972165" algn="l" defTabSz="4389120" rtl="0" eaLnBrk="1" latinLnBrk="0" hangingPunct="1">
        <a:defRPr sz="8600" kern="1200">
          <a:solidFill>
            <a:schemeClr val="tx1"/>
          </a:solidFill>
          <a:latin typeface="+mn-lt"/>
          <a:ea typeface="+mn-ea"/>
          <a:cs typeface="+mn-cs"/>
        </a:defRPr>
      </a:lvl6pPr>
      <a:lvl7pPr marL="13166725" algn="l" defTabSz="4389120" rtl="0" eaLnBrk="1" latinLnBrk="0" hangingPunct="1">
        <a:defRPr sz="8600" kern="1200">
          <a:solidFill>
            <a:schemeClr val="tx1"/>
          </a:solidFill>
          <a:latin typeface="+mn-lt"/>
          <a:ea typeface="+mn-ea"/>
          <a:cs typeface="+mn-cs"/>
        </a:defRPr>
      </a:lvl7pPr>
      <a:lvl8pPr marL="15361285" algn="l" defTabSz="4389120" rtl="0" eaLnBrk="1" latinLnBrk="0" hangingPunct="1">
        <a:defRPr sz="8600" kern="1200">
          <a:solidFill>
            <a:schemeClr val="tx1"/>
          </a:solidFill>
          <a:latin typeface="+mn-lt"/>
          <a:ea typeface="+mn-ea"/>
          <a:cs typeface="+mn-cs"/>
        </a:defRPr>
      </a:lvl8pPr>
      <a:lvl9pPr marL="17555845" algn="l" defTabSz="438912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567305" y="32390910"/>
            <a:ext cx="2514600" cy="341436"/>
          </a:xfrm>
          <a:prstGeom prst="rect">
            <a:avLst/>
          </a:prstGeom>
          <a:noFill/>
          <a:ln w="9525">
            <a:noFill/>
            <a:miter lim="800000"/>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panose="020B0604020202020204" pitchFamily="34" charset="0"/>
              </a:rPr>
              <a:t>RESEARCH POSTER PRESENTATION DESIGN © 2022</a:t>
            </a:r>
            <a:endParaRPr lang="en-US" sz="500" b="1" dirty="0">
              <a:solidFill>
                <a:schemeClr val="bg1">
                  <a:lumMod val="75000"/>
                </a:schemeClr>
              </a:solidFill>
              <a:latin typeface="Arial" panose="020B0604020202020204" pitchFamily="34" charset="0"/>
            </a:endParaRPr>
          </a:p>
          <a:p>
            <a:pPr eaLnBrk="0" hangingPunct="0">
              <a:lnSpc>
                <a:spcPct val="65000"/>
              </a:lnSpc>
              <a:spcBef>
                <a:spcPct val="50000"/>
              </a:spcBef>
              <a:defRPr/>
            </a:pPr>
            <a:r>
              <a:rPr lang="en-US" sz="1100" b="1" dirty="0">
                <a:solidFill>
                  <a:schemeClr val="bg1">
                    <a:lumMod val="75000"/>
                  </a:schemeClr>
                </a:solidFill>
                <a:latin typeface="Arial" panose="020B0604020202020204" pitchFamily="34" charset="0"/>
              </a:rPr>
              <a:t>www.PosterPresentations.com</a:t>
            </a:r>
            <a:endParaRPr lang="en-US" sz="1100" b="1" dirty="0">
              <a:solidFill>
                <a:schemeClr val="bg1">
                  <a:lumMod val="75000"/>
                </a:schemeClr>
              </a:solidFill>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ctr" defTabSz="4389120" rtl="0" eaLnBrk="1" latinLnBrk="0" hangingPunct="1">
        <a:spcBef>
          <a:spcPct val="0"/>
        </a:spcBef>
        <a:buNone/>
        <a:defRPr sz="8800" kern="1200">
          <a:solidFill>
            <a:schemeClr val="bg1"/>
          </a:solidFill>
          <a:latin typeface="Trebuchet MS" panose="020B0603020202020204" pitchFamily="34" charset="0"/>
          <a:ea typeface="+mj-ea"/>
          <a:cs typeface="+mj-cs"/>
        </a:defRPr>
      </a:lvl1pPr>
    </p:titleStyle>
    <p:bodyStyle>
      <a:lvl1pPr marL="1645920" indent="-1645920" algn="l" defTabSz="4389120" rtl="0" eaLnBrk="1" latinLnBrk="0" hangingPunct="1">
        <a:spcBef>
          <a:spcPct val="20000"/>
        </a:spcBef>
        <a:buFont typeface="Arial" panose="020B0604020202020204" pitchFamily="34" charset="0"/>
        <a:buChar char="•"/>
        <a:defRPr sz="15400" kern="1200">
          <a:solidFill>
            <a:schemeClr val="tx1"/>
          </a:solidFill>
          <a:latin typeface="+mn-lt"/>
          <a:ea typeface="+mn-ea"/>
          <a:cs typeface="+mn-cs"/>
        </a:defRPr>
      </a:lvl1pPr>
      <a:lvl2pPr marL="3566160" indent="-1371600" algn="l" defTabSz="4389120" rtl="0" eaLnBrk="1" latinLnBrk="0" hangingPunct="1">
        <a:spcBef>
          <a:spcPct val="20000"/>
        </a:spcBef>
        <a:buFont typeface="Arial" panose="020B0604020202020204" pitchFamily="34" charset="0"/>
        <a:buChar char="–"/>
        <a:defRPr sz="135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20204" pitchFamily="34" charset="0"/>
        <a:buChar char="•"/>
        <a:defRPr sz="11600" kern="1200">
          <a:solidFill>
            <a:schemeClr val="tx1"/>
          </a:solidFill>
          <a:latin typeface="+mn-lt"/>
          <a:ea typeface="+mn-ea"/>
          <a:cs typeface="+mn-cs"/>
        </a:defRPr>
      </a:lvl3pPr>
      <a:lvl4pPr marL="768032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4pPr>
      <a:lvl5pPr marL="987488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5pPr>
      <a:lvl6pPr marL="1206944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9pPr>
    </p:bodyStyle>
    <p:other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045" algn="l" defTabSz="4389120" rtl="0" eaLnBrk="1" latinLnBrk="0" hangingPunct="1">
        <a:defRPr sz="8600" kern="1200">
          <a:solidFill>
            <a:schemeClr val="tx1"/>
          </a:solidFill>
          <a:latin typeface="+mn-lt"/>
          <a:ea typeface="+mn-ea"/>
          <a:cs typeface="+mn-cs"/>
        </a:defRPr>
      </a:lvl4pPr>
      <a:lvl5pPr marL="8777605" algn="l" defTabSz="4389120" rtl="0" eaLnBrk="1" latinLnBrk="0" hangingPunct="1">
        <a:defRPr sz="8600" kern="1200">
          <a:solidFill>
            <a:schemeClr val="tx1"/>
          </a:solidFill>
          <a:latin typeface="+mn-lt"/>
          <a:ea typeface="+mn-ea"/>
          <a:cs typeface="+mn-cs"/>
        </a:defRPr>
      </a:lvl5pPr>
      <a:lvl6pPr marL="10972165" algn="l" defTabSz="4389120" rtl="0" eaLnBrk="1" latinLnBrk="0" hangingPunct="1">
        <a:defRPr sz="8600" kern="1200">
          <a:solidFill>
            <a:schemeClr val="tx1"/>
          </a:solidFill>
          <a:latin typeface="+mn-lt"/>
          <a:ea typeface="+mn-ea"/>
          <a:cs typeface="+mn-cs"/>
        </a:defRPr>
      </a:lvl6pPr>
      <a:lvl7pPr marL="13166725" algn="l" defTabSz="4389120" rtl="0" eaLnBrk="1" latinLnBrk="0" hangingPunct="1">
        <a:defRPr sz="8600" kern="1200">
          <a:solidFill>
            <a:schemeClr val="tx1"/>
          </a:solidFill>
          <a:latin typeface="+mn-lt"/>
          <a:ea typeface="+mn-ea"/>
          <a:cs typeface="+mn-cs"/>
        </a:defRPr>
      </a:lvl7pPr>
      <a:lvl8pPr marL="15361285" algn="l" defTabSz="4389120" rtl="0" eaLnBrk="1" latinLnBrk="0" hangingPunct="1">
        <a:defRPr sz="8600" kern="1200">
          <a:solidFill>
            <a:schemeClr val="tx1"/>
          </a:solidFill>
          <a:latin typeface="+mn-lt"/>
          <a:ea typeface="+mn-ea"/>
          <a:cs typeface="+mn-cs"/>
        </a:defRPr>
      </a:lvl8pPr>
      <a:lvl9pPr marL="17555845" algn="l" defTabSz="438912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jpeg"/><Relationship Id="rId7" Type="http://schemas.openxmlformats.org/officeDocument/2006/relationships/image" Target="../media/image14.png"/><Relationship Id="rId6" Type="http://schemas.openxmlformats.org/officeDocument/2006/relationships/image" Target="file:///C:\Users\xy\AppData\Local\Temp\wps\INetCache\3636ad37032479c7fa32614e2f2e7b70" TargetMode="External"/><Relationship Id="rId5" Type="http://schemas.openxmlformats.org/officeDocument/2006/relationships/image" Target="../media/image13.jpe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1" Type="http://schemas.openxmlformats.org/officeDocument/2006/relationships/notesSlide" Target="../notesSlides/notesSlide1.xml"/><Relationship Id="rId10" Type="http://schemas.openxmlformats.org/officeDocument/2006/relationships/slideLayout" Target="../slideLayouts/slideLayout1.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59740" y="5829935"/>
            <a:ext cx="10082530" cy="3225800"/>
          </a:xfrm>
        </p:spPr>
        <p:txBody>
          <a:bodyPr wrap="square"/>
          <a:lstStyle/>
          <a:p>
            <a:r>
              <a:rPr lang="en-US" sz="3600">
                <a:latin typeface="+mn-lt"/>
                <a:cs typeface="+mn-lt"/>
              </a:rPr>
              <a:t>Under the grand challenge topic “Enhance Virtual Reality”, the research title for the summer research is “The fractal dimension of the one dimensional case”. The research project set out to determine the fractal dimension of a road profile.</a:t>
            </a:r>
            <a:endParaRPr lang="en-US" sz="3600">
              <a:latin typeface="+mn-lt"/>
              <a:cs typeface="+mn-lt"/>
            </a:endParaRPr>
          </a:p>
        </p:txBody>
      </p:sp>
      <p:sp>
        <p:nvSpPr>
          <p:cNvPr id="3" name="Text Placeholder 2"/>
          <p:cNvSpPr>
            <a:spLocks noGrp="1"/>
          </p:cNvSpPr>
          <p:nvPr>
            <p:ph type="body" sz="quarter" idx="11"/>
          </p:nvPr>
        </p:nvSpPr>
        <p:spPr>
          <a:xfrm>
            <a:off x="477827" y="5000109"/>
            <a:ext cx="10048875" cy="612140"/>
          </a:xfrm>
        </p:spPr>
        <p:txBody>
          <a:bodyPr/>
          <a:lstStyle/>
          <a:p>
            <a:r>
              <a:rPr lang="en-US" altLang="zh-CN"/>
              <a:t>Introduction &amp; Objective</a:t>
            </a:r>
            <a:endParaRPr lang="en-US" altLang="zh-CN"/>
          </a:p>
        </p:txBody>
      </p:sp>
      <p:sp>
        <p:nvSpPr>
          <p:cNvPr id="5" name="Text Placeholder 4"/>
          <p:cNvSpPr>
            <a:spLocks noGrp="1"/>
          </p:cNvSpPr>
          <p:nvPr>
            <p:ph type="body" sz="quarter" idx="21"/>
          </p:nvPr>
        </p:nvSpPr>
        <p:spPr>
          <a:xfrm>
            <a:off x="11417935" y="5829935"/>
            <a:ext cx="10047605" cy="4887595"/>
          </a:xfrm>
        </p:spPr>
        <p:txBody>
          <a:bodyPr wrap="square"/>
          <a:lstStyle/>
          <a:p>
            <a:pPr algn="l">
              <a:buClrTx/>
              <a:buSzTx/>
            </a:pPr>
            <a:r>
              <a:rPr lang="en-US" altLang="zh-CN" sz="3600">
                <a:latin typeface="+mn-lt"/>
                <a:cs typeface="+mn-lt"/>
              </a:rPr>
              <a:t>MATLAB is used to process and model the road sample data. After imputing missing values and reshaping the matrix, we extract the largest centered submatrix of size 2</a:t>
            </a:r>
            <a:r>
              <a:rPr lang="en-US" altLang="zh-CN" sz="3600" baseline="30000">
                <a:latin typeface="+mn-lt"/>
                <a:cs typeface="+mn-lt"/>
              </a:rPr>
              <a:t>K</a:t>
            </a:r>
            <a:r>
              <a:rPr lang="en-US" altLang="zh-CN" sz="3600">
                <a:latin typeface="+mn-lt"/>
                <a:cs typeface="+mn-lt"/>
              </a:rPr>
              <a:t>. Each column vector is analyzed using three models: fractal dimension distribution, log–log linear regression, and distribution fitting. R</a:t>
            </a:r>
            <a:r>
              <a:rPr lang="en-US" altLang="en-US" sz="3600">
                <a:latin typeface="+mn-lt"/>
                <a:cs typeface="+mn-lt"/>
              </a:rPr>
              <a:t>²</a:t>
            </a:r>
            <a:r>
              <a:rPr lang="en-US" altLang="zh-CN" sz="3600">
                <a:latin typeface="+mn-lt"/>
                <a:cs typeface="+mn-lt"/>
              </a:rPr>
              <a:t> of the log-log model quantifies self-similarity.</a:t>
            </a:r>
            <a:endParaRPr lang="en-US" altLang="zh-CN" sz="3600">
              <a:latin typeface="+mn-lt"/>
              <a:cs typeface="+mn-lt"/>
            </a:endParaRPr>
          </a:p>
        </p:txBody>
      </p:sp>
      <p:sp>
        <p:nvSpPr>
          <p:cNvPr id="6" name="Text Placeholder 5"/>
          <p:cNvSpPr>
            <a:spLocks noGrp="1"/>
          </p:cNvSpPr>
          <p:nvPr>
            <p:ph type="body" sz="quarter" idx="22"/>
          </p:nvPr>
        </p:nvSpPr>
        <p:spPr>
          <a:xfrm>
            <a:off x="11417617" y="5000109"/>
            <a:ext cx="10048875" cy="612140"/>
          </a:xfrm>
        </p:spPr>
        <p:txBody>
          <a:bodyPr/>
          <a:lstStyle/>
          <a:p>
            <a:r>
              <a:rPr lang="en-US"/>
              <a:t>Methods</a:t>
            </a:r>
            <a:endParaRPr lang="en-US"/>
          </a:p>
        </p:txBody>
      </p:sp>
      <p:sp>
        <p:nvSpPr>
          <p:cNvPr id="7" name="Text Placeholder 6"/>
          <p:cNvSpPr>
            <a:spLocks noGrp="1"/>
          </p:cNvSpPr>
          <p:nvPr>
            <p:ph type="body" sz="quarter" idx="23"/>
          </p:nvPr>
        </p:nvSpPr>
        <p:spPr>
          <a:xfrm>
            <a:off x="22408838" y="5809521"/>
            <a:ext cx="10048874" cy="4887595"/>
          </a:xfrm>
        </p:spPr>
        <p:txBody>
          <a:bodyPr/>
          <a:lstStyle/>
          <a:p>
            <a:pPr algn="l">
              <a:buClrTx/>
              <a:buSzTx/>
            </a:pPr>
            <a:r>
              <a:rPr lang="en-US" sz="3600">
                <a:latin typeface="+mn-lt"/>
                <a:cs typeface="+mn-lt"/>
              </a:rPr>
              <a:t>The fractal dimension of a road surface that looks smooth may be even larger than that of the road surface that looks rough. Besides, the fluctuation range of the fractal dimension of a smooth data set is larger, and it is not around 1 as expected. In addition, the log-log models basically present a smooth straight line, reflecting good self-similarity property.</a:t>
            </a:r>
            <a:endParaRPr lang="en-US" sz="3600">
              <a:latin typeface="+mn-lt"/>
              <a:cs typeface="+mn-lt"/>
            </a:endParaRPr>
          </a:p>
        </p:txBody>
      </p:sp>
      <p:sp>
        <p:nvSpPr>
          <p:cNvPr id="8" name="Text Placeholder 7"/>
          <p:cNvSpPr>
            <a:spLocks noGrp="1"/>
          </p:cNvSpPr>
          <p:nvPr>
            <p:ph type="body" sz="quarter" idx="24"/>
          </p:nvPr>
        </p:nvSpPr>
        <p:spPr>
          <a:xfrm>
            <a:off x="22404074" y="5017254"/>
            <a:ext cx="10058400" cy="612140"/>
          </a:xfrm>
        </p:spPr>
        <p:txBody>
          <a:bodyPr/>
          <a:lstStyle/>
          <a:p>
            <a:r>
              <a:rPr lang="en-US"/>
              <a:t>Results </a:t>
            </a:r>
            <a:r>
              <a:rPr lang="en-US">
                <a:sym typeface="+mn-ea"/>
              </a:rPr>
              <a:t>&amp; Interpretation</a:t>
            </a:r>
            <a:endParaRPr lang="en-US"/>
          </a:p>
        </p:txBody>
      </p:sp>
      <p:sp>
        <p:nvSpPr>
          <p:cNvPr id="9" name="Text Placeholder 8"/>
          <p:cNvSpPr>
            <a:spLocks noGrp="1"/>
          </p:cNvSpPr>
          <p:nvPr>
            <p:ph type="body" sz="quarter" idx="25"/>
          </p:nvPr>
        </p:nvSpPr>
        <p:spPr>
          <a:xfrm>
            <a:off x="33400452" y="5000109"/>
            <a:ext cx="10047018" cy="612140"/>
          </a:xfrm>
        </p:spPr>
        <p:txBody>
          <a:bodyPr/>
          <a:lstStyle/>
          <a:p>
            <a:r>
              <a:rPr lang="en-US"/>
              <a:t>Conclusions</a:t>
            </a:r>
            <a:endParaRPr lang="en-US"/>
          </a:p>
        </p:txBody>
      </p:sp>
      <p:sp>
        <p:nvSpPr>
          <p:cNvPr id="10" name="Text Placeholder 9"/>
          <p:cNvSpPr>
            <a:spLocks noGrp="1"/>
          </p:cNvSpPr>
          <p:nvPr>
            <p:ph type="body" sz="quarter" idx="26"/>
          </p:nvPr>
        </p:nvSpPr>
        <p:spPr>
          <a:xfrm>
            <a:off x="33401635" y="5963920"/>
            <a:ext cx="10045700" cy="3225800"/>
          </a:xfrm>
        </p:spPr>
        <p:txBody>
          <a:bodyPr wrap="square"/>
          <a:lstStyle/>
          <a:p>
            <a:r>
              <a:rPr lang="en-US" altLang="zh-CN" sz="3600">
                <a:latin typeface="+mn-lt"/>
                <a:cs typeface="+mn-lt"/>
              </a:rPr>
              <a:t>Visual roughness does not reliably indicate true fractal complexity. This study finds that road profiles exhibit fractal dimensions between 1.4 and 1.7, with strong self-similarity confirmed by regression results.</a:t>
            </a:r>
            <a:endParaRPr lang="en-US" altLang="zh-CN" sz="3600">
              <a:latin typeface="+mn-lt"/>
              <a:cs typeface="+mn-lt"/>
            </a:endParaRPr>
          </a:p>
        </p:txBody>
      </p:sp>
      <p:sp>
        <p:nvSpPr>
          <p:cNvPr id="11" name="Text Placeholder 10"/>
          <p:cNvSpPr>
            <a:spLocks noGrp="1"/>
          </p:cNvSpPr>
          <p:nvPr>
            <p:ph type="body" sz="quarter" idx="27"/>
          </p:nvPr>
        </p:nvSpPr>
        <p:spPr>
          <a:xfrm>
            <a:off x="33405532" y="17938593"/>
            <a:ext cx="10047018" cy="612140"/>
          </a:xfrm>
        </p:spPr>
        <p:txBody>
          <a:bodyPr/>
          <a:lstStyle/>
          <a:p>
            <a:r>
              <a:rPr lang="en-US"/>
              <a:t>References</a:t>
            </a:r>
            <a:endParaRPr lang="en-US"/>
          </a:p>
        </p:txBody>
      </p:sp>
      <p:sp>
        <p:nvSpPr>
          <p:cNvPr id="12" name="Text Placeholder 11"/>
          <p:cNvSpPr>
            <a:spLocks noGrp="1"/>
          </p:cNvSpPr>
          <p:nvPr>
            <p:ph type="body" sz="quarter" idx="28"/>
          </p:nvPr>
        </p:nvSpPr>
        <p:spPr>
          <a:xfrm>
            <a:off x="33405532" y="18729962"/>
            <a:ext cx="10052050" cy="6400800"/>
          </a:xfrm>
        </p:spPr>
        <p:txBody>
          <a:bodyPr/>
          <a:lstStyle/>
          <a:p>
            <a:pPr algn="l">
              <a:buClrTx/>
              <a:buSzTx/>
            </a:pPr>
            <a:r>
              <a:rPr lang="en-US" sz="3600">
                <a:latin typeface="+mn-lt"/>
                <a:cs typeface="+mn-lt"/>
              </a:rPr>
              <a:t>Zeng, Xianyi &amp; Koehl, Ludovic &amp; Vasseur, Christian. (2001). Design and implementation of an estimator of fractal dimension using fuzzy techniques. Pattern Recognition. 34. 151-169. 10.1016/S0031-3203(99)00202-2. </a:t>
            </a:r>
            <a:endParaRPr lang="en-US" sz="3600">
              <a:latin typeface="+mn-lt"/>
              <a:cs typeface="+mn-lt"/>
            </a:endParaRPr>
          </a:p>
          <a:p>
            <a:pPr algn="l">
              <a:buClrTx/>
              <a:buSzTx/>
            </a:pPr>
            <a:endParaRPr lang="en-US" sz="3600">
              <a:latin typeface="+mn-lt"/>
              <a:cs typeface="+mn-lt"/>
            </a:endParaRPr>
          </a:p>
          <a:p>
            <a:pPr algn="l">
              <a:buClrTx/>
              <a:buSzTx/>
            </a:pPr>
            <a:r>
              <a:rPr lang="en-US" sz="3600">
                <a:latin typeface="+mn-lt"/>
                <a:cs typeface="+mn-lt"/>
              </a:rPr>
              <a:t>Son, H. J. (n.d.). Fractals in neuroscience bio and brain engineering in KAIST. SlidePlayer. https://slideplayer.com/slide/6237958/</a:t>
            </a:r>
            <a:endParaRPr lang="en-US" sz="3600">
              <a:latin typeface="+mn-lt"/>
              <a:cs typeface="+mn-lt"/>
            </a:endParaRPr>
          </a:p>
          <a:p>
            <a:endParaRPr lang="en-US" sz="2000"/>
          </a:p>
          <a:p>
            <a:endParaRPr lang="en-US" sz="2000"/>
          </a:p>
        </p:txBody>
      </p:sp>
      <p:sp>
        <p:nvSpPr>
          <p:cNvPr id="13" name="Text Placeholder 12"/>
          <p:cNvSpPr>
            <a:spLocks noGrp="1"/>
          </p:cNvSpPr>
          <p:nvPr>
            <p:ph type="body" sz="quarter" idx="29"/>
          </p:nvPr>
        </p:nvSpPr>
        <p:spPr>
          <a:xfrm>
            <a:off x="33410612" y="24732616"/>
            <a:ext cx="10047018" cy="612140"/>
          </a:xfrm>
        </p:spPr>
        <p:txBody>
          <a:bodyPr/>
          <a:lstStyle/>
          <a:p>
            <a:r>
              <a:rPr lang="en-US"/>
              <a:t>Acknowledgement</a:t>
            </a:r>
            <a:endParaRPr lang="en-US"/>
          </a:p>
        </p:txBody>
      </p:sp>
      <p:sp>
        <p:nvSpPr>
          <p:cNvPr id="14" name="Text Placeholder 13"/>
          <p:cNvSpPr>
            <a:spLocks noGrp="1"/>
          </p:cNvSpPr>
          <p:nvPr>
            <p:ph type="body" sz="quarter" idx="30"/>
          </p:nvPr>
        </p:nvSpPr>
        <p:spPr>
          <a:xfrm>
            <a:off x="33395372" y="25706371"/>
            <a:ext cx="10052050" cy="2671445"/>
          </a:xfrm>
        </p:spPr>
        <p:txBody>
          <a:bodyPr/>
          <a:lstStyle/>
          <a:p>
            <a:pPr algn="l">
              <a:buClrTx/>
              <a:buSzTx/>
            </a:pPr>
            <a:r>
              <a:rPr lang="en-US" altLang="zh-CN" sz="3600">
                <a:latin typeface="+mn-lt"/>
                <a:cs typeface="+mn-lt"/>
              </a:rPr>
              <a:t>We thank Dr. CHUNG for his guidance, and Alvin for his support with code implementation. We also appreciate the feedback from Dr. Hon and Mr. Chan during project meetings.</a:t>
            </a:r>
            <a:endParaRPr lang="en-US" altLang="zh-CN" sz="3600">
              <a:latin typeface="+mn-lt"/>
              <a:cs typeface="+mn-lt"/>
            </a:endParaRPr>
          </a:p>
        </p:txBody>
      </p:sp>
      <p:sp>
        <p:nvSpPr>
          <p:cNvPr id="15" name="Text Placeholder 14"/>
          <p:cNvSpPr>
            <a:spLocks noGrp="1"/>
          </p:cNvSpPr>
          <p:nvPr>
            <p:ph type="body" sz="quarter" idx="96"/>
          </p:nvPr>
        </p:nvSpPr>
        <p:spPr>
          <a:xfrm>
            <a:off x="485074" y="15329377"/>
            <a:ext cx="10056813" cy="4887595"/>
          </a:xfrm>
        </p:spPr>
        <p:txBody>
          <a:bodyPr/>
          <a:lstStyle/>
          <a:p>
            <a:pPr algn="l">
              <a:buClrTx/>
              <a:buSzTx/>
            </a:pPr>
            <a:r>
              <a:rPr lang="en-US" sz="3600">
                <a:latin typeface="+mn-lt"/>
                <a:cs typeface="+mn-lt"/>
              </a:rPr>
              <a:t>The purpose is to find the fractal dimension of a longitudinal profile. Using the box counting algorithm, the measures under different scales can be calculated. Through the relationship between the scales and measures, the self-similar property can be recognized, and the fractal dimension would also be got through the gradient of the log(scale)-log(measure) graph.</a:t>
            </a:r>
            <a:endParaRPr lang="en-US" sz="3600">
              <a:latin typeface="+mn-lt"/>
              <a:cs typeface="+mn-lt"/>
            </a:endParaRPr>
          </a:p>
        </p:txBody>
      </p:sp>
      <p:sp>
        <p:nvSpPr>
          <p:cNvPr id="17" name="Text Placeholder 16"/>
          <p:cNvSpPr>
            <a:spLocks noGrp="1"/>
          </p:cNvSpPr>
          <p:nvPr>
            <p:ph type="body" sz="quarter" idx="151"/>
          </p:nvPr>
        </p:nvSpPr>
        <p:spPr>
          <a:xfrm>
            <a:off x="5932593" y="2400310"/>
            <a:ext cx="31998968" cy="645160"/>
          </a:xfrm>
        </p:spPr>
        <p:txBody>
          <a:bodyPr/>
          <a:lstStyle/>
          <a:p>
            <a:r>
              <a:rPr lang="en-US" sz="3600">
                <a:latin typeface="+mj-lt"/>
                <a:cs typeface="+mj-lt"/>
              </a:rPr>
              <a:t>LI Xingyao</a:t>
            </a:r>
            <a:endParaRPr lang="en-US" sz="3600">
              <a:latin typeface="+mj-lt"/>
              <a:cs typeface="+mj-lt"/>
            </a:endParaRPr>
          </a:p>
        </p:txBody>
      </p:sp>
      <p:sp>
        <p:nvSpPr>
          <p:cNvPr id="18" name="Text Placeholder 17"/>
          <p:cNvSpPr>
            <a:spLocks noGrp="1"/>
          </p:cNvSpPr>
          <p:nvPr>
            <p:ph type="body" sz="quarter" idx="153"/>
          </p:nvPr>
        </p:nvSpPr>
        <p:spPr>
          <a:xfrm>
            <a:off x="5932593" y="872213"/>
            <a:ext cx="31998968" cy="1106805"/>
          </a:xfrm>
        </p:spPr>
        <p:txBody>
          <a:bodyPr/>
          <a:lstStyle/>
          <a:p>
            <a:r>
              <a:rPr lang="en-US" sz="6600">
                <a:latin typeface="+mj-lt"/>
                <a:cs typeface="+mj-lt"/>
              </a:rPr>
              <a:t>Fractal Dimension of the One Dimensional Case</a:t>
            </a:r>
            <a:endParaRPr lang="en-US" sz="6600">
              <a:latin typeface="+mj-lt"/>
              <a:cs typeface="+mj-lt"/>
            </a:endParaRPr>
          </a:p>
        </p:txBody>
      </p:sp>
      <p:pic>
        <p:nvPicPr>
          <p:cNvPr id="22" name="图片 21"/>
          <p:cNvPicPr>
            <a:picLocks noChangeAspect="1"/>
          </p:cNvPicPr>
          <p:nvPr/>
        </p:nvPicPr>
        <p:blipFill>
          <a:blip r:embed="rId1"/>
          <a:stretch>
            <a:fillRect/>
          </a:stretch>
        </p:blipFill>
        <p:spPr>
          <a:xfrm>
            <a:off x="24179848" y="10877550"/>
            <a:ext cx="6009005" cy="5083909"/>
          </a:xfrm>
          <a:prstGeom prst="rect">
            <a:avLst/>
          </a:prstGeom>
        </p:spPr>
      </p:pic>
      <p:pic>
        <p:nvPicPr>
          <p:cNvPr id="23" name="图片 22" descr="1656079612(1)"/>
          <p:cNvPicPr>
            <a:picLocks noChangeAspect="1"/>
          </p:cNvPicPr>
          <p:nvPr/>
        </p:nvPicPr>
        <p:blipFill>
          <a:blip r:embed="rId2"/>
          <a:stretch>
            <a:fillRect/>
          </a:stretch>
        </p:blipFill>
        <p:spPr>
          <a:xfrm>
            <a:off x="24179848" y="16790670"/>
            <a:ext cx="6009005" cy="4866724"/>
          </a:xfrm>
          <a:prstGeom prst="rect">
            <a:avLst/>
          </a:prstGeom>
        </p:spPr>
      </p:pic>
      <p:pic>
        <p:nvPicPr>
          <p:cNvPr id="102" name="图片 101"/>
          <p:cNvPicPr/>
          <p:nvPr/>
        </p:nvPicPr>
        <p:blipFill>
          <a:blip r:embed="rId3"/>
          <a:stretch>
            <a:fillRect/>
          </a:stretch>
        </p:blipFill>
        <p:spPr>
          <a:xfrm>
            <a:off x="955040" y="9458325"/>
            <a:ext cx="9359900" cy="4208145"/>
          </a:xfrm>
          <a:prstGeom prst="rect">
            <a:avLst/>
          </a:prstGeom>
          <a:noFill/>
          <a:ln w="9525">
            <a:noFill/>
          </a:ln>
        </p:spPr>
      </p:pic>
      <p:sp>
        <p:nvSpPr>
          <p:cNvPr id="16" name="文本框 15"/>
          <p:cNvSpPr txBox="1"/>
          <p:nvPr/>
        </p:nvSpPr>
        <p:spPr>
          <a:xfrm>
            <a:off x="1298575" y="14260195"/>
            <a:ext cx="8000365" cy="475615"/>
          </a:xfrm>
          <a:prstGeom prst="rect">
            <a:avLst/>
          </a:prstGeom>
          <a:noFill/>
        </p:spPr>
        <p:txBody>
          <a:bodyPr wrap="square" rtlCol="0">
            <a:spAutoFit/>
          </a:bodyPr>
          <a:p>
            <a:pPr algn="ctr"/>
            <a:r>
              <a:rPr lang="en-US" altLang="zh-CN" sz="2500" dirty="0">
                <a:latin typeface="Times New Roman" panose="02020603050405020304" pitchFamily="18" charset="0"/>
                <a:cs typeface="Times New Roman" panose="02020603050405020304" pitchFamily="18" charset="0"/>
              </a:rPr>
              <a:t>Figure 1. Classic fractal patterns with self-similarity.</a:t>
            </a:r>
            <a:endParaRPr lang="en-US" altLang="zh-CN" sz="2500" dirty="0">
              <a:latin typeface="Times New Roman" panose="02020603050405020304" pitchFamily="18" charset="0"/>
              <a:cs typeface="Times New Roman" panose="02020603050405020304" pitchFamily="18" charset="0"/>
            </a:endParaRPr>
          </a:p>
        </p:txBody>
      </p:sp>
      <p:sp>
        <p:nvSpPr>
          <p:cNvPr id="19" name="文本框 18"/>
          <p:cNvSpPr txBox="1"/>
          <p:nvPr/>
        </p:nvSpPr>
        <p:spPr>
          <a:xfrm>
            <a:off x="24179848" y="16048990"/>
            <a:ext cx="6009005" cy="475615"/>
          </a:xfrm>
          <a:prstGeom prst="rect">
            <a:avLst/>
          </a:prstGeom>
          <a:noFill/>
        </p:spPr>
        <p:txBody>
          <a:bodyPr wrap="square" rtlCol="0">
            <a:spAutoFit/>
          </a:bodyPr>
          <a:p>
            <a:pPr algn="ctr"/>
            <a:r>
              <a:rPr lang="en-US" altLang="zh-CN" sz="2500" dirty="0">
                <a:latin typeface="Times New Roman" panose="02020603050405020304" pitchFamily="18" charset="0"/>
                <a:cs typeface="Times New Roman" panose="02020603050405020304" pitchFamily="18" charset="0"/>
              </a:rPr>
              <a:t>Figure 4. Fractal Dimension Distribution Plot.</a:t>
            </a:r>
            <a:endParaRPr lang="en-US" altLang="zh-CN" sz="2500" dirty="0">
              <a:latin typeface="Times New Roman" panose="02020603050405020304" pitchFamily="18" charset="0"/>
              <a:cs typeface="Times New Roman" panose="02020603050405020304" pitchFamily="18" charset="0"/>
            </a:endParaRPr>
          </a:p>
        </p:txBody>
      </p:sp>
      <p:sp>
        <p:nvSpPr>
          <p:cNvPr id="20" name="文本框 19"/>
          <p:cNvSpPr txBox="1"/>
          <p:nvPr/>
        </p:nvSpPr>
        <p:spPr>
          <a:xfrm>
            <a:off x="24361458" y="21876385"/>
            <a:ext cx="5645785" cy="475615"/>
          </a:xfrm>
          <a:prstGeom prst="rect">
            <a:avLst/>
          </a:prstGeom>
          <a:noFill/>
        </p:spPr>
        <p:txBody>
          <a:bodyPr wrap="square" rtlCol="0">
            <a:spAutoFit/>
          </a:bodyPr>
          <a:p>
            <a:r>
              <a:rPr lang="en-US" altLang="zh-CN" sz="2500" dirty="0">
                <a:latin typeface="Times New Roman" panose="02020603050405020304" pitchFamily="18" charset="0"/>
                <a:cs typeface="Times New Roman" panose="02020603050405020304" pitchFamily="18" charset="0"/>
              </a:rPr>
              <a:t>Figure 5. Log-log Plot for a Road Data Set.</a:t>
            </a:r>
            <a:endParaRPr lang="en-US" altLang="zh-CN" sz="2500" dirty="0">
              <a:latin typeface="Times New Roman" panose="02020603050405020304" pitchFamily="18" charset="0"/>
              <a:cs typeface="Times New Roman" panose="02020603050405020304" pitchFamily="18" charset="0"/>
            </a:endParaRPr>
          </a:p>
        </p:txBody>
      </p:sp>
      <p:pic>
        <p:nvPicPr>
          <p:cNvPr id="21" name="图片 2"/>
          <p:cNvPicPr>
            <a:picLocks noChangeAspect="1"/>
          </p:cNvPicPr>
          <p:nvPr/>
        </p:nvPicPr>
        <p:blipFill>
          <a:blip r:embed="rId4"/>
          <a:stretch>
            <a:fillRect/>
          </a:stretch>
        </p:blipFill>
        <p:spPr>
          <a:xfrm>
            <a:off x="24179848" y="22557105"/>
            <a:ext cx="6009005" cy="4962336"/>
          </a:xfrm>
          <a:prstGeom prst="rect">
            <a:avLst/>
          </a:prstGeom>
          <a:noFill/>
          <a:ln w="9525">
            <a:noFill/>
          </a:ln>
        </p:spPr>
      </p:pic>
      <p:pic>
        <p:nvPicPr>
          <p:cNvPr id="103" name="图片 102"/>
          <p:cNvPicPr/>
          <p:nvPr/>
        </p:nvPicPr>
        <p:blipFill>
          <a:blip r:embed="rId5" r:link="rId6"/>
          <a:stretch>
            <a:fillRect/>
          </a:stretch>
        </p:blipFill>
        <p:spPr>
          <a:xfrm>
            <a:off x="21945600" y="16459200"/>
            <a:ext cx="0" cy="0"/>
          </a:xfrm>
          <a:prstGeom prst="rect">
            <a:avLst/>
          </a:prstGeom>
          <a:noFill/>
          <a:ln w="9525">
            <a:noFill/>
          </a:ln>
        </p:spPr>
      </p:pic>
      <p:pic>
        <p:nvPicPr>
          <p:cNvPr id="104" name="图片 103"/>
          <p:cNvPicPr/>
          <p:nvPr/>
        </p:nvPicPr>
        <p:blipFill>
          <a:blip r:embed="rId5" r:link="rId6"/>
          <a:stretch>
            <a:fillRect/>
          </a:stretch>
        </p:blipFill>
        <p:spPr>
          <a:xfrm>
            <a:off x="21945600" y="16459200"/>
            <a:ext cx="0" cy="0"/>
          </a:xfrm>
          <a:prstGeom prst="rect">
            <a:avLst/>
          </a:prstGeom>
          <a:noFill/>
          <a:ln w="9525">
            <a:noFill/>
          </a:ln>
        </p:spPr>
      </p:pic>
      <p:pic>
        <p:nvPicPr>
          <p:cNvPr id="24" name="图片 23"/>
          <p:cNvPicPr>
            <a:picLocks noChangeAspect="1"/>
          </p:cNvPicPr>
          <p:nvPr/>
        </p:nvPicPr>
        <p:blipFill>
          <a:blip r:embed="rId7"/>
          <a:stretch>
            <a:fillRect/>
          </a:stretch>
        </p:blipFill>
        <p:spPr>
          <a:xfrm>
            <a:off x="485140" y="21134070"/>
            <a:ext cx="10238740" cy="5335905"/>
          </a:xfrm>
          <a:prstGeom prst="rect">
            <a:avLst/>
          </a:prstGeom>
        </p:spPr>
      </p:pic>
      <p:pic>
        <p:nvPicPr>
          <p:cNvPr id="107" name="图片 106"/>
          <p:cNvPicPr/>
          <p:nvPr/>
        </p:nvPicPr>
        <p:blipFill>
          <a:blip r:embed="rId8"/>
          <a:srcRect l="4636" t="1549" r="5430" b="17655"/>
          <a:stretch>
            <a:fillRect/>
          </a:stretch>
        </p:blipFill>
        <p:spPr>
          <a:xfrm rot="10800000" flipH="1" flipV="1">
            <a:off x="11924030" y="11318240"/>
            <a:ext cx="8413115" cy="6625590"/>
          </a:xfrm>
          <a:prstGeom prst="rect">
            <a:avLst/>
          </a:prstGeom>
          <a:noFill/>
          <a:ln w="9525">
            <a:noFill/>
          </a:ln>
        </p:spPr>
      </p:pic>
      <p:sp>
        <p:nvSpPr>
          <p:cNvPr id="25" name="文本框 24"/>
          <p:cNvSpPr txBox="1"/>
          <p:nvPr/>
        </p:nvSpPr>
        <p:spPr>
          <a:xfrm>
            <a:off x="24176990" y="27703780"/>
            <a:ext cx="6014720" cy="475615"/>
          </a:xfrm>
          <a:prstGeom prst="rect">
            <a:avLst/>
          </a:prstGeom>
          <a:noFill/>
        </p:spPr>
        <p:txBody>
          <a:bodyPr wrap="square" rtlCol="0">
            <a:spAutoFit/>
          </a:bodyPr>
          <a:p>
            <a:r>
              <a:rPr lang="en-US" altLang="zh-CN" sz="2500" dirty="0">
                <a:latin typeface="Times New Roman" panose="02020603050405020304" pitchFamily="18" charset="0"/>
                <a:cs typeface="Times New Roman" panose="02020603050405020304" pitchFamily="18" charset="0"/>
              </a:rPr>
              <a:t>Figure 6. </a:t>
            </a:r>
            <a:r>
              <a:rPr lang="en-US" altLang="zh-CN" sz="2500" dirty="0">
                <a:latin typeface="Times New Roman" panose="02020603050405020304" pitchFamily="18" charset="0"/>
                <a:cs typeface="Times New Roman" panose="02020603050405020304" pitchFamily="18" charset="0"/>
                <a:sym typeface="+mn-ea"/>
              </a:rPr>
              <a:t>Log-Log Plot for a Periodic Profile.</a:t>
            </a:r>
            <a:r>
              <a:rPr lang="en-US" altLang="zh-CN" sz="2500" dirty="0">
                <a:latin typeface="Times New Roman" panose="02020603050405020304" pitchFamily="18" charset="0"/>
                <a:cs typeface="Times New Roman" panose="02020603050405020304" pitchFamily="18" charset="0"/>
              </a:rPr>
              <a:t> </a:t>
            </a:r>
            <a:endParaRPr lang="en-US" altLang="zh-CN" sz="2500" dirty="0">
              <a:latin typeface="Times New Roman" panose="02020603050405020304" pitchFamily="18" charset="0"/>
              <a:cs typeface="Times New Roman" panose="02020603050405020304" pitchFamily="18" charset="0"/>
            </a:endParaRPr>
          </a:p>
        </p:txBody>
      </p:sp>
      <p:sp>
        <p:nvSpPr>
          <p:cNvPr id="26" name="Text Placeholder 7"/>
          <p:cNvSpPr>
            <a:spLocks noGrp="1"/>
          </p:cNvSpPr>
          <p:nvPr/>
        </p:nvSpPr>
        <p:spPr>
          <a:xfrm>
            <a:off x="11407144" y="19973409"/>
            <a:ext cx="10058400" cy="612140"/>
          </a:xfrm>
          <a:prstGeom prst="rect">
            <a:avLst/>
          </a:prstGeom>
          <a:solidFill>
            <a:schemeClr val="accent5">
              <a:lumMod val="50000"/>
            </a:schemeClr>
          </a:solidFill>
        </p:spPr>
        <p:txBody>
          <a:bodyPr lIns="91436" tIns="91436" rIns="91436" bIns="91436" anchor="t" anchorCtr="0">
            <a:spAutoFit/>
          </a:bodyPr>
          <a:lstStyle>
            <a:lvl1pPr marL="0" indent="0" algn="ctr" defTabSz="4389120" rtl="0" eaLnBrk="1" latinLnBrk="0" hangingPunct="1">
              <a:spcBef>
                <a:spcPct val="20000"/>
              </a:spcBef>
              <a:buFont typeface="Arial" panose="020B0604020202020204" pitchFamily="34" charset="0"/>
              <a:buNone/>
              <a:defRPr sz="2800" b="1" u="none" kern="1200" baseline="0">
                <a:solidFill>
                  <a:schemeClr val="bg1"/>
                </a:solidFill>
                <a:latin typeface="Century Gothic" panose="020B0502020202020204" pitchFamily="34" charset="0"/>
                <a:ea typeface="+mn-ea"/>
                <a:cs typeface="+mn-cs"/>
              </a:defRPr>
            </a:lvl1pPr>
            <a:lvl2pPr marL="3566160" indent="-1371600" algn="l" defTabSz="4389120" rtl="0" eaLnBrk="1" latinLnBrk="0" hangingPunct="1">
              <a:spcBef>
                <a:spcPct val="20000"/>
              </a:spcBef>
              <a:buFont typeface="Arial" panose="020B0604020202020204" pitchFamily="34" charset="0"/>
              <a:buChar char="–"/>
              <a:defRPr sz="13500" kern="1200">
                <a:solidFill>
                  <a:schemeClr val="tx1"/>
                </a:solidFill>
                <a:latin typeface="+mn-lt"/>
                <a:ea typeface="+mn-ea"/>
                <a:cs typeface="+mn-cs"/>
              </a:defRPr>
            </a:lvl2pPr>
            <a:lvl3pPr marL="5486400" indent="-1097280" algn="l" defTabSz="4389120" rtl="0" eaLnBrk="1" latinLnBrk="0" hangingPunct="1">
              <a:spcBef>
                <a:spcPct val="20000"/>
              </a:spcBef>
              <a:buFont typeface="Arial" panose="020B0604020202020204" pitchFamily="34" charset="0"/>
              <a:buChar char="•"/>
              <a:defRPr sz="11600" kern="1200">
                <a:solidFill>
                  <a:schemeClr val="tx1"/>
                </a:solidFill>
                <a:latin typeface="+mn-lt"/>
                <a:ea typeface="+mn-ea"/>
                <a:cs typeface="+mn-cs"/>
              </a:defRPr>
            </a:lvl3pPr>
            <a:lvl4pPr marL="768032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4pPr>
            <a:lvl5pPr marL="987488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5pPr>
            <a:lvl6pPr marL="1206944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9pPr>
          </a:lstStyle>
          <a:p>
            <a:r>
              <a:rPr lang="en-US"/>
              <a:t>Data Analysis</a:t>
            </a:r>
            <a:endParaRPr lang="en-US"/>
          </a:p>
        </p:txBody>
      </p:sp>
      <p:sp>
        <p:nvSpPr>
          <p:cNvPr id="30" name="Text Placeholder 14"/>
          <p:cNvSpPr>
            <a:spLocks noGrp="1"/>
          </p:cNvSpPr>
          <p:nvPr/>
        </p:nvSpPr>
        <p:spPr>
          <a:xfrm>
            <a:off x="11305540" y="20746720"/>
            <a:ext cx="10057130" cy="3779520"/>
          </a:xfrm>
          <a:prstGeom prst="rect">
            <a:avLst/>
          </a:prstGeom>
        </p:spPr>
        <p:txBody>
          <a:bodyPr wrap="square" lIns="228589" tIns="228589" rIns="228589" bIns="228589" anchor="t" anchorCtr="0">
            <a:spAutoFit/>
          </a:bodyPr>
          <a:lstStyle>
            <a:lvl1pPr marL="0" indent="0" algn="l" defTabSz="4389120" rtl="0" eaLnBrk="1" latinLnBrk="0" hangingPunct="1">
              <a:spcBef>
                <a:spcPct val="20000"/>
              </a:spcBef>
              <a:buFont typeface="Arial" panose="020B0604020202020204" pitchFamily="34" charset="0"/>
              <a:buNone/>
              <a:defRPr sz="18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485900" indent="-571500" algn="l" defTabSz="4389120" rtl="0" eaLnBrk="1" latinLnBrk="0" hangingPunct="1">
              <a:spcBef>
                <a:spcPct val="20000"/>
              </a:spcBef>
              <a:buFont typeface="Arial" panose="020B0604020202020204" pitchFamily="34" charset="0"/>
              <a:buChar char="–"/>
              <a:defRPr sz="2500" kern="1200">
                <a:solidFill>
                  <a:schemeClr val="tx1"/>
                </a:solidFill>
                <a:latin typeface="Trebuchet MS" panose="020B0603020202020204" pitchFamily="34" charset="0"/>
                <a:ea typeface="+mn-ea"/>
                <a:cs typeface="+mn-cs"/>
              </a:defRPr>
            </a:lvl2pPr>
            <a:lvl3pPr marL="2057400" indent="-571500" algn="l" defTabSz="4389120" rtl="0" eaLnBrk="1" latinLnBrk="0" hangingPunct="1">
              <a:spcBef>
                <a:spcPct val="20000"/>
              </a:spcBef>
              <a:buFont typeface="Arial" panose="020B0604020202020204" pitchFamily="34" charset="0"/>
              <a:buChar char="•"/>
              <a:defRPr sz="2500" kern="1200">
                <a:solidFill>
                  <a:schemeClr val="tx1"/>
                </a:solidFill>
                <a:latin typeface="Trebuchet MS" panose="020B0603020202020204" pitchFamily="34" charset="0"/>
                <a:ea typeface="+mn-ea"/>
                <a:cs typeface="+mn-cs"/>
              </a:defRPr>
            </a:lvl3pPr>
            <a:lvl4pPr marL="2686050" indent="-628650" algn="l" defTabSz="4389120" rtl="0" eaLnBrk="1" latinLnBrk="0" hangingPunct="1">
              <a:spcBef>
                <a:spcPct val="20000"/>
              </a:spcBef>
              <a:buFont typeface="Arial" panose="020B0604020202020204" pitchFamily="34" charset="0"/>
              <a:buChar char="–"/>
              <a:defRPr sz="2500" kern="1200">
                <a:solidFill>
                  <a:schemeClr val="tx1"/>
                </a:solidFill>
                <a:latin typeface="Trebuchet MS" panose="020B0603020202020204" pitchFamily="34" charset="0"/>
                <a:ea typeface="+mn-ea"/>
                <a:cs typeface="+mn-cs"/>
              </a:defRPr>
            </a:lvl4pPr>
            <a:lvl5pPr marL="3143250" indent="-457200" algn="l" defTabSz="4389120" rtl="0" eaLnBrk="1" latinLnBrk="0" hangingPunct="1">
              <a:spcBef>
                <a:spcPct val="20000"/>
              </a:spcBef>
              <a:buFont typeface="Arial" panose="020B0604020202020204" pitchFamily="34" charset="0"/>
              <a:buChar char="»"/>
              <a:defRPr sz="2500" kern="1200">
                <a:solidFill>
                  <a:schemeClr val="tx1"/>
                </a:solidFill>
                <a:latin typeface="Trebuchet MS" panose="020B0603020202020204" pitchFamily="34" charset="0"/>
                <a:ea typeface="+mn-ea"/>
                <a:cs typeface="+mn-cs"/>
              </a:defRPr>
            </a:lvl5pPr>
            <a:lvl6pPr marL="1206944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6pPr>
            <a:lvl7pPr marL="1426400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7pPr>
            <a:lvl8pPr marL="1645856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8pPr>
            <a:lvl9pPr marL="18653125"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9pPr>
          </a:lstStyle>
          <a:p>
            <a:pPr algn="l">
              <a:buClrTx/>
              <a:buSzTx/>
            </a:pPr>
            <a:r>
              <a:rPr lang="en-US" altLang="zh-CN" sz="3600">
                <a:latin typeface="+mn-lt"/>
                <a:cs typeface="+mn-lt"/>
              </a:rPr>
              <a:t>The fractal dimension of rough profiles typically ranges from 1.45 to 1.55, while that of smooth profiles varies between 1.4 and 1.7. The log–log models show high linearity with R</a:t>
            </a:r>
            <a:r>
              <a:rPr lang="en-US" altLang="en-US" sz="3600">
                <a:latin typeface="+mn-lt"/>
                <a:cs typeface="+mn-lt"/>
              </a:rPr>
              <a:t>²</a:t>
            </a:r>
            <a:r>
              <a:rPr lang="en-US" altLang="zh-CN" sz="3600">
                <a:latin typeface="+mn-lt"/>
                <a:cs typeface="+mn-lt"/>
              </a:rPr>
              <a:t> close to 1, confirming strong self-similarity. For periodic data, the estimated dimension is close to 1.</a:t>
            </a:r>
            <a:endParaRPr lang="en-US" altLang="zh-CN" sz="3600">
              <a:latin typeface="+mn-lt"/>
              <a:cs typeface="+mn-lt"/>
            </a:endParaRPr>
          </a:p>
        </p:txBody>
      </p:sp>
      <p:sp>
        <p:nvSpPr>
          <p:cNvPr id="31" name="文本框 30"/>
          <p:cNvSpPr txBox="1"/>
          <p:nvPr/>
        </p:nvSpPr>
        <p:spPr>
          <a:xfrm>
            <a:off x="1298575" y="27201495"/>
            <a:ext cx="6815455" cy="475615"/>
          </a:xfrm>
          <a:prstGeom prst="rect">
            <a:avLst/>
          </a:prstGeom>
          <a:noFill/>
        </p:spPr>
        <p:txBody>
          <a:bodyPr wrap="none" rtlCol="0">
            <a:spAutoFit/>
          </a:bodyPr>
          <a:p>
            <a:r>
              <a:rPr lang="en-US" altLang="zh-CN" sz="2500" dirty="0">
                <a:latin typeface="Times New Roman" panose="02020603050405020304" pitchFamily="18" charset="0"/>
                <a:cs typeface="Times New Roman" panose="02020603050405020304" pitchFamily="18" charset="0"/>
              </a:rPr>
              <a:t>Figure 2. Box Counting Principle and Log-log Plot. </a:t>
            </a:r>
            <a:endParaRPr lang="en-US" altLang="zh-CN" sz="2500" dirty="0">
              <a:latin typeface="Times New Roman" panose="02020603050405020304" pitchFamily="18" charset="0"/>
              <a:cs typeface="Times New Roman" panose="02020603050405020304" pitchFamily="18" charset="0"/>
            </a:endParaRPr>
          </a:p>
        </p:txBody>
      </p:sp>
      <p:sp>
        <p:nvSpPr>
          <p:cNvPr id="32" name="文本框 31"/>
          <p:cNvSpPr txBox="1"/>
          <p:nvPr/>
        </p:nvSpPr>
        <p:spPr>
          <a:xfrm>
            <a:off x="13065125" y="18230850"/>
            <a:ext cx="6537960" cy="860425"/>
          </a:xfrm>
          <a:prstGeom prst="rect">
            <a:avLst/>
          </a:prstGeom>
          <a:noFill/>
        </p:spPr>
        <p:txBody>
          <a:bodyPr wrap="square" rtlCol="0">
            <a:spAutoFit/>
          </a:bodyPr>
          <a:p>
            <a:r>
              <a:rPr lang="en-US" altLang="zh-CN" sz="2500" dirty="0">
                <a:latin typeface="Times New Roman" panose="02020603050405020304" pitchFamily="18" charset="0"/>
                <a:cs typeface="Times New Roman" panose="02020603050405020304" pitchFamily="18" charset="0"/>
              </a:rPr>
              <a:t>Figure 3. The Principle and Formula of Fractal Dimension by Box Counting Method.</a:t>
            </a:r>
            <a:endParaRPr lang="en-US" altLang="zh-CN" sz="2500" dirty="0">
              <a:latin typeface="Times New Roman" panose="02020603050405020304" pitchFamily="18" charset="0"/>
              <a:cs typeface="Times New Roman" panose="02020603050405020304" pitchFamily="18" charset="0"/>
            </a:endParaRPr>
          </a:p>
        </p:txBody>
      </p:sp>
      <p:pic>
        <p:nvPicPr>
          <p:cNvPr id="33" name="图片 32" descr="Pavement-texture-and-wavelength-11"/>
          <p:cNvPicPr>
            <a:picLocks noChangeAspect="1"/>
          </p:cNvPicPr>
          <p:nvPr/>
        </p:nvPicPr>
        <p:blipFill>
          <a:blip r:embed="rId9"/>
          <a:stretch>
            <a:fillRect/>
          </a:stretch>
        </p:blipFill>
        <p:spPr>
          <a:xfrm>
            <a:off x="34032190" y="9886950"/>
            <a:ext cx="8763000" cy="6572250"/>
          </a:xfrm>
          <a:prstGeom prst="rect">
            <a:avLst/>
          </a:prstGeom>
        </p:spPr>
      </p:pic>
      <p:sp>
        <p:nvSpPr>
          <p:cNvPr id="34" name="文本框 33"/>
          <p:cNvSpPr txBox="1"/>
          <p:nvPr/>
        </p:nvSpPr>
        <p:spPr>
          <a:xfrm>
            <a:off x="35293300" y="16922750"/>
            <a:ext cx="5977255" cy="475615"/>
          </a:xfrm>
          <a:prstGeom prst="rect">
            <a:avLst/>
          </a:prstGeom>
          <a:noFill/>
        </p:spPr>
        <p:txBody>
          <a:bodyPr wrap="none" rtlCol="0">
            <a:spAutoFit/>
          </a:bodyPr>
          <a:p>
            <a:pPr algn="l"/>
            <a:r>
              <a:rPr lang="en-US" altLang="zh-CN" sz="2500" dirty="0">
                <a:latin typeface="Times New Roman" panose="02020603050405020304" pitchFamily="18" charset="0"/>
                <a:cs typeface="Times New Roman" panose="02020603050405020304" pitchFamily="18" charset="0"/>
              </a:rPr>
              <a:t>Figure 7. Pavement Texture and Wavelength. </a:t>
            </a:r>
            <a:endParaRPr lang="en-US" altLang="zh-CN" sz="2500" dirty="0">
              <a:latin typeface="Times New Roman" panose="02020603050405020304" pitchFamily="18" charset="0"/>
              <a:cs typeface="Times New Roman" panose="02020603050405020304" pitchFamily="18" charset="0"/>
            </a:endParaRPr>
          </a:p>
        </p:txBody>
      </p:sp>
      <p:sp>
        <p:nvSpPr>
          <p:cNvPr id="29" name="矩形 28"/>
          <p:cNvSpPr/>
          <p:nvPr/>
        </p:nvSpPr>
        <p:spPr>
          <a:xfrm>
            <a:off x="485140" y="32280860"/>
            <a:ext cx="2884805" cy="577215"/>
          </a:xfrm>
          <a:prstGeom prst="rect">
            <a:avLst/>
          </a:prstGeom>
          <a:solidFill>
            <a:srgbClr val="20386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矩形 34"/>
          <p:cNvSpPr/>
          <p:nvPr/>
        </p:nvSpPr>
        <p:spPr>
          <a:xfrm>
            <a:off x="0" y="30939105"/>
            <a:ext cx="43891200" cy="1341755"/>
          </a:xfrm>
          <a:prstGeom prst="rect">
            <a:avLst/>
          </a:prstGeom>
          <a:solidFill>
            <a:srgbClr val="20386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tags/tag1.xml><?xml version="1.0" encoding="utf-8"?>
<p:tagLst xmlns:p="http://schemas.openxmlformats.org/presentationml/2006/main">
  <p:tag name="COMMONDATA" val="eyJoZGlkIjoiMWVkOGYxZjExNTVkMGFlMGM2MmFjZTJlZjFmYjAxOTMifQ=="/>
</p:tagLst>
</file>

<file path=ppt/theme/theme1.xml><?xml version="1.0" encoding="utf-8"?>
<a:theme xmlns:a="http://schemas.openxmlformats.org/drawingml/2006/main" name="36x48-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36x48-Template-V2b</Template>
  <TotalTime>0</TotalTime>
  <Words>2862</Words>
  <Application>WPS 演示</Application>
  <PresentationFormat>Custom</PresentationFormat>
  <Paragraphs>52</Paragraphs>
  <Slides>1</Slides>
  <Notes>0</Notes>
  <HiddenSlides>0</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1</vt:i4>
      </vt:variant>
    </vt:vector>
  </HeadingPairs>
  <TitlesOfParts>
    <vt:vector size="26" baseType="lpstr">
      <vt:lpstr>Arial</vt:lpstr>
      <vt:lpstr>宋体</vt:lpstr>
      <vt:lpstr>Wingdings</vt:lpstr>
      <vt:lpstr>Times New Roman</vt:lpstr>
      <vt:lpstr>Arial Black</vt:lpstr>
      <vt:lpstr>Trebuchet MS</vt:lpstr>
      <vt:lpstr>Arial</vt:lpstr>
      <vt:lpstr>Century Gothic</vt:lpstr>
      <vt:lpstr>Calibri</vt:lpstr>
      <vt:lpstr>微软雅黑</vt:lpstr>
      <vt:lpstr>Arial Unicode MS</vt:lpstr>
      <vt:lpstr>Bahnschrift SemiBold Condensed</vt:lpstr>
      <vt:lpstr>华文中宋</vt:lpstr>
      <vt:lpstr>Calibri Light</vt:lpstr>
      <vt:lpstr>Comic Sans MS</vt:lpstr>
      <vt:lpstr>Arial Narrow</vt:lpstr>
      <vt:lpstr>MS PGothic</vt:lpstr>
      <vt:lpstr>Microsoft JhengHei UI</vt:lpstr>
      <vt:lpstr>Microsoft JhengHei Light</vt:lpstr>
      <vt:lpstr>Cambria</vt:lpstr>
      <vt:lpstr>Bahnschrift SemiLight</vt:lpstr>
      <vt:lpstr>Amaranth</vt:lpstr>
      <vt:lpstr>NumberOnly</vt:lpstr>
      <vt:lpstr>36x48-Template</vt:lpstr>
      <vt:lpstr>Without guides</vt:lpstr>
      <vt:lpstr>PowerPoint 演示文稿</vt:lpstr>
    </vt:vector>
  </TitlesOfParts>
  <Company>Canterbury Media Services, Inc.</Company>
  <LinksUpToDate>false</LinksUpToDate>
  <SharedDoc>false</SharedDoc>
  <HyperlinksChanged>false</HyperlinksChanged>
  <AppVersion>14.0000</AppVersion>
  <Manager>A. Kotoulas</Manager>
  <HyperlinkBase>https://www.posterpresentations.com/free-poster-templates.html</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dc:subject>Research poster presentation template</dc:subject>
  <cp:category>Research poster templates</cp:category>
  <cp:lastModifiedBy>WPS_1602071123</cp:lastModifiedBy>
  <cp:revision>80</cp:revision>
  <dcterms:created xsi:type="dcterms:W3CDTF">2012-02-03T19:11:00Z</dcterms:created>
  <dcterms:modified xsi:type="dcterms:W3CDTF">2025-08-03T02:15:35Z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243663CA31B6463BB36B7B44EA875C7A</vt:lpwstr>
  </property>
  <property fmtid="{D5CDD505-2E9C-101B-9397-08002B2CF9AE}" pid="3" name="KSOProductBuildVer">
    <vt:lpwstr>2052-12.1.0.22215</vt:lpwstr>
  </property>
</Properties>
</file>